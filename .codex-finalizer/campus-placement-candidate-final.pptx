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d2982aae1f47c9" /><Relationship Type="http://schemas.openxmlformats.org/officeDocument/2006/relationships/extended-properties" Target="/docProps/app.xml" Id="Rea792232c21a42ad" /><Relationship Type="http://schemas.openxmlformats.org/officeDocument/2006/relationships/officeDocument" Target="/ppt/presentation.xml" Id="R65201735583e4ab8" /></Relationships>
</file>

<file path=ppt/presentation.xml><?xml version="1.0" encoding="utf-8"?>
<p:presentation xmlns:p="http://schemas.openxmlformats.org/presentationml/2006/main">
  <p:sldMasterIdLst>
    <p:sldMasterId xmlns:r="http://schemas.openxmlformats.org/officeDocument/2006/relationships" id="2147483648" r:id="R194e956440d7468d"/>
  </p:sldMasterIdLst>
  <p:notesMasterIdLst>
    <p:notesMasterId xmlns:r="http://schemas.openxmlformats.org/officeDocument/2006/relationships" r:id="Rcb9b00334f0f4734"/>
  </p:notesMasterIdLst>
  <p:sldIdLst>
    <p:sldId xmlns:r="http://schemas.openxmlformats.org/officeDocument/2006/relationships" id="256" r:id="R92ccd0f693c643cf"/>
    <p:sldId xmlns:r="http://schemas.openxmlformats.org/officeDocument/2006/relationships" id="257" r:id="R4a41fcfac00e41a4"/>
    <p:sldId xmlns:r="http://schemas.openxmlformats.org/officeDocument/2006/relationships" id="258" r:id="R8ee13807834d4b05"/>
    <p:sldId xmlns:r="http://schemas.openxmlformats.org/officeDocument/2006/relationships" id="259" r:id="R3dbafada66134a95"/>
    <p:sldId xmlns:r="http://schemas.openxmlformats.org/officeDocument/2006/relationships" id="260" r:id="R137d000507e54119"/>
    <p:sldId xmlns:r="http://schemas.openxmlformats.org/officeDocument/2006/relationships" id="261" r:id="Rb18c44d662e547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b55538f6a445e0" /><Relationship Type="http://schemas.openxmlformats.org/officeDocument/2006/relationships/slideMaster" Target="/ppt/slideMasters/slideMaster1.xml" Id="R194e956440d7468d" /><Relationship Type="http://schemas.openxmlformats.org/officeDocument/2006/relationships/notesMaster" Target="/ppt/notesMasters/notesMaster1.xml" Id="Rcb9b00334f0f4734" /><Relationship Type="http://schemas.openxmlformats.org/officeDocument/2006/relationships/presProps" Target="/ppt/presProps.xml" Id="R2613b3fd17054069" /><Relationship Type="http://schemas.openxmlformats.org/officeDocument/2006/relationships/tableStyles" Target="/ppt/tableStyles.xml" Id="R104b9c9d66964af9" /><Relationship Type="http://schemas.openxmlformats.org/officeDocument/2006/relationships/slide" Target="/ppt/slides/slide1.xml" Id="R92ccd0f693c643cf" /><Relationship Type="http://schemas.openxmlformats.org/officeDocument/2006/relationships/slide" Target="/ppt/slides/slide2.xml" Id="R4a41fcfac00e41a4" /><Relationship Type="http://schemas.openxmlformats.org/officeDocument/2006/relationships/slide" Target="/ppt/slides/slide3.xml" Id="R8ee13807834d4b05" /><Relationship Type="http://schemas.openxmlformats.org/officeDocument/2006/relationships/slide" Target="/ppt/slides/slide4.xml" Id="R3dbafada66134a95" /><Relationship Type="http://schemas.openxmlformats.org/officeDocument/2006/relationships/slide" Target="/ppt/slides/slide5.xml" Id="R137d000507e54119" /><Relationship Type="http://schemas.openxmlformats.org/officeDocument/2006/relationships/slide" Target="/ppt/slides/slide6.xml" Id="Rb18c44d662e547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283f172e1945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e49512196b401b" /><Relationship Type="http://schemas.openxmlformats.org/officeDocument/2006/relationships/notesMaster" Target="/ppt/notesMasters/notesMaster1.xml" Id="Rb460a7cbd8074e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9b9be206d34d7a" /><Relationship Type="http://schemas.openxmlformats.org/officeDocument/2006/relationships/notesMaster" Target="/ppt/notesMasters/notesMaster1.xml" Id="Rcab4326b61ed4b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bc9bf913d234a43" /><Relationship Type="http://schemas.openxmlformats.org/officeDocument/2006/relationships/notesMaster" Target="/ppt/notesMasters/notesMaster1.xml" Id="Red1aa553e1dd44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ba7f4e5d6842de" /><Relationship Type="http://schemas.openxmlformats.org/officeDocument/2006/relationships/notesMaster" Target="/ppt/notesMasters/notesMaster1.xml" Id="Rcb319f13379b4b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abfd6f0db545ef" /><Relationship Type="http://schemas.openxmlformats.org/officeDocument/2006/relationships/notesMaster" Target="/ppt/notesMasters/notesMaster1.xml" Id="R130484b003ac49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339b4a08e824436" /><Relationship Type="http://schemas.openxmlformats.org/officeDocument/2006/relationships/notesMaster" Target="/ppt/notesMasters/notesMaster1.xml" Id="Rc476e1088b7f41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presents a centralized platform for managing campus placements and internships from drive creation through final selection. It connects students, recruiters, and the placement cell through one secure and transparent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Traditional placement drives depend on spreadsheets and repeated manual checks, which increases errors and slows decisions. Our portal centralizes the full recruitment cycle and gives every role the same verified source of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recruiters, and the placement office work in the same pipeline while seeing only the actions allowed for their role. The process starts with a criteria-based drive and ends with a recorded selection plus real-time institutional analytics.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eligibility engine and one-offer rule form the policy core of the system, with the same checks enforced on the server before any database write. Auto-shortlisting saves recruiter time, while stage history gives students immediate visibility into each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follows MVC so presentation, business logic, and data access remain easy to maintain and test. Node.js and Express run the workflows on Vercel, while Mongoose connects the application to MongoDB Atlas and enforces database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official technology documentation and studied real placement-cell rules plus established recruitment platforms to shape the system. I would like to thank our project guide, faculty members, and placement coordinators for their technical and operational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0281c22af244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07ac3a59c74480" /><Relationship Type="http://schemas.openxmlformats.org/officeDocument/2006/relationships/slideLayout" Target="/ppt/slideLayouts/slideLayout1.xml" Id="R843b3f254f4f4c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3b3f254f4f4c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d06e108bca4c1d" /><Relationship Type="http://schemas.openxmlformats.org/officeDocument/2006/relationships/image" Target="/ppt/media/image.png" Id="R20009a3caa3b420d" /><Relationship Type="http://schemas.openxmlformats.org/officeDocument/2006/relationships/image" Target="/ppt/media/image2.png" Id="R008c0b7023d641e2" /><Relationship Type="http://schemas.openxmlformats.org/officeDocument/2006/relationships/image" Target="/ppt/media/image.svg" Id="R8c0f4800504a455b" /><Relationship Type="http://schemas.openxmlformats.org/officeDocument/2006/relationships/notesSlide" Target="/ppt/notesSlides/notesSlide1.xml" Id="Ra6ad6df5db9840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6260cdd1c844dc" /><Relationship Type="http://schemas.openxmlformats.org/officeDocument/2006/relationships/image" Target="/ppt/media/image3.png" Id="R2ad32ebddddb4c9a" /><Relationship Type="http://schemas.openxmlformats.org/officeDocument/2006/relationships/image" Target="/ppt/media/image2.svg" Id="R14136a999d4e401c" /><Relationship Type="http://schemas.openxmlformats.org/officeDocument/2006/relationships/notesSlide" Target="/ppt/notesSlides/notesSlide2.xml" Id="R4d702d7071404e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3b15b73fc7459e" /><Relationship Type="http://schemas.openxmlformats.org/officeDocument/2006/relationships/image" Target="/ppt/media/image4.png" Id="R87db2f0e10db4c33" /><Relationship Type="http://schemas.openxmlformats.org/officeDocument/2006/relationships/image" Target="/ppt/media/image3.svg" Id="Re6c741f2956b4c31" /><Relationship Type="http://schemas.openxmlformats.org/officeDocument/2006/relationships/notesSlide" Target="/ppt/notesSlides/notesSlide3.xml" Id="R76fb0c6c88934f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06c8fa49df4125" /><Relationship Type="http://schemas.openxmlformats.org/officeDocument/2006/relationships/image" Target="/ppt/media/image5.png" Id="R12488a140dc54fb2" /><Relationship Type="http://schemas.openxmlformats.org/officeDocument/2006/relationships/image" Target="/ppt/media/image4.svg" Id="R53037a77cb7d4fc8" /><Relationship Type="http://schemas.openxmlformats.org/officeDocument/2006/relationships/notesSlide" Target="/ppt/notesSlides/notesSlide4.xml" Id="Ra41ced1a9fa84f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4fdfca542340f2" /><Relationship Type="http://schemas.openxmlformats.org/officeDocument/2006/relationships/image" Target="/ppt/media/image6.png" Id="R67c1fb651a7242fb" /><Relationship Type="http://schemas.openxmlformats.org/officeDocument/2006/relationships/image" Target="/ppt/media/image5.svg" Id="R105ceea2640c44d3" /><Relationship Type="http://schemas.openxmlformats.org/officeDocument/2006/relationships/notesSlide" Target="/ppt/notesSlides/notesSlide5.xml" Id="Ra594ef50d1d14b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f49592ae664f28" /><Relationship Type="http://schemas.openxmlformats.org/officeDocument/2006/relationships/image" Target="/ppt/media/image7.png" Id="Rf75ca9fc04564371" /><Relationship Type="http://schemas.openxmlformats.org/officeDocument/2006/relationships/image" Target="/ppt/media/image6.svg" Id="Rc1b8670fe8cc47d4" /><Relationship Type="http://schemas.openxmlformats.org/officeDocument/2006/relationships/notesSlide" Target="/ppt/notesSlides/notesSlide6.xml" Id="R848af1314013479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0009a3caa3b420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08c0b7023d641e2">
            <a:extLst>
              <a:ext uri="{96DAC541-7B7A-43D3-8B79-37D633B846F1}">
                <asvg:svgBlip xmlns:asvg="http://schemas.microsoft.com/office/drawing/2016/SVG/main" r:embed="R8c0f4800504a455b"/>
              </a:ext>
            </a:extLst>
          </a:blip>
          <a:stretch xmlns:a="http://schemas.openxmlformats.org/drawingml/2006/main"/>
        </p:blipFill>
        <p:spPr>
          <a:xfrm xmlns:a="http://schemas.openxmlformats.org/drawingml/2006/main">
            <a:off x="685800" y="514350"/>
            <a:ext cx="495300" cy="495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3544015-C75E-4176-8813-C52EDFB5F272}"/>
              </a:ext>
            </a:extLst>
          </p:cNvPr>
          <p:cNvSpPr>
            <a:spLocks xmlns:a="http://schemas.openxmlformats.org/drawingml/2006/main" noGrp="1"/>
          </p:cNvSpPr>
          <p:nvPr/>
        </p:nvSpPr>
        <p:spPr>
          <a:xfrm xmlns:a="http://schemas.openxmlformats.org/drawingml/2006/main">
            <a:off x="1333500" y="6000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38BDF8"/>
                </a:solidFill>
                <a:latin typeface="Helvetica Neue"/>
                <a:ea typeface="Helvetica Neue"/>
                <a:cs typeface="Helvetica Neue"/>
              </a:defRPr>
            </a:pPr>
            <a:r>
              <a:rPr sz="1275" b="1">
                <a:solidFill>
                  <a:srgbClr val="38BDF8"/>
                </a:solidFill>
                <a:latin typeface="Helvetica Neue"/>
                <a:ea typeface="Helvetica Neue"/>
                <a:cs typeface="Helvetica Neue"/>
              </a:rPr>
              <a:t>COLLEGE PROJECT</a:t>
            </a:r>
          </a:p>
        </p:txBody>
      </p:sp>
      <p:sp>
        <p:nvSpPr>
          <p:cNvPr id="4" name="">
            <a:extLst xmlns:a="http://schemas.openxmlformats.org/drawingml/2006/main">
              <a:ext uri="{FF2B5EF4-FFF2-40B4-BE49-F238E27FC236}">
                <a16:creationId xmlns:a16="http://schemas.microsoft.com/office/drawing/2014/main" id="{F1008171-943C-420E-B6C7-F621ADEDDA19}"/>
              </a:ext>
            </a:extLst>
          </p:cNvPr>
          <p:cNvSpPr>
            <a:spLocks xmlns:a="http://schemas.openxmlformats.org/drawingml/2006/main" noGrp="1"/>
          </p:cNvSpPr>
          <p:nvPr/>
        </p:nvSpPr>
        <p:spPr>
          <a:xfrm xmlns:a="http://schemas.openxmlformats.org/drawingml/2006/main">
            <a:off x="685800" y="1657350"/>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Campus Placement &amp;</a:t>
            </a:r>
          </a:p>
          <a:p xmlns:a="http://schemas.openxmlformats.org/drawingml/2006/main">
            <a:pPr algn="l">
              <a:lnSpc>
                <a:spcPct val="92000"/>
              </a:lnSpc>
              <a:buNone/>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Internship Management System</a:t>
            </a:r>
          </a:p>
        </p:txBody>
      </p:sp>
      <p:sp>
        <p:nvSpPr>
          <p:cNvPr id="5" name="">
            <a:extLst xmlns:a="http://schemas.openxmlformats.org/drawingml/2006/main">
              <a:ext uri="{FF2B5EF4-FFF2-40B4-BE49-F238E27FC236}">
                <a16:creationId xmlns:a16="http://schemas.microsoft.com/office/drawing/2014/main" id="{62C469BF-B675-4F38-A451-3A39FDD8894E}"/>
              </a:ext>
            </a:extLst>
          </p:cNvPr>
          <p:cNvSpPr>
            <a:spLocks xmlns:a="http://schemas.openxmlformats.org/drawingml/2006/main" noGrp="1"/>
          </p:cNvSpPr>
          <p:nvPr/>
        </p:nvSpPr>
        <p:spPr>
          <a:xfrm xmlns:a="http://schemas.openxmlformats.org/drawingml/2006/main">
            <a:off x="723900" y="365760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154"/>
          </a:bodyPr>
          <a:lstStyle xmlns:a="http://schemas.openxmlformats.org/drawingml/2006/main"/>
          <a:p xmlns:a="http://schemas.openxmlformats.org/drawingml/2006/main">
            <a:pPr algn="l">
              <a:defRPr sz="1725" b="0">
                <a:solidFill>
                  <a:srgbClr val="D8EAF7"/>
                </a:solidFill>
                <a:latin typeface="Helvetica Neue"/>
                <a:ea typeface="Helvetica Neue"/>
                <a:cs typeface="Helvetica Neue"/>
              </a:defRPr>
            </a:pPr>
            <a:r>
              <a:rPr sz="1725" b="0">
                <a:solidFill>
                  <a:srgbClr val="D8EAF7"/>
                </a:solidFill>
                <a:latin typeface="Helvetica Neue"/>
                <a:ea typeface="Helvetica Neue"/>
                <a:cs typeface="Helvetica Neue"/>
              </a:rPr>
              <a:t>An automated, role-based portal for campus recruitment</a:t>
            </a:r>
          </a:p>
        </p:txBody>
      </p:sp>
      <p:sp>
        <p:nvSpPr>
          <p:cNvPr id="6" name="">
            <a:extLst xmlns:a="http://schemas.openxmlformats.org/drawingml/2006/main">
              <a:ext uri="{FF2B5EF4-FFF2-40B4-BE49-F238E27FC236}">
                <a16:creationId xmlns:a16="http://schemas.microsoft.com/office/drawing/2014/main" id="{78C93073-E7F6-4026-9ED3-395D5322F783}"/>
              </a:ext>
            </a:extLst>
          </p:cNvPr>
          <p:cNvSpPr>
            <a:spLocks xmlns:a="http://schemas.openxmlformats.org/drawingml/2006/main" noGrp="1"/>
          </p:cNvSpPr>
          <p:nvPr/>
        </p:nvSpPr>
        <p:spPr>
          <a:xfrm xmlns:a="http://schemas.openxmlformats.org/drawingml/2006/main">
            <a:off x="723900" y="4410075"/>
            <a:ext cx="4648200" cy="0"/>
          </a:xfrm>
          <a:prstGeom xmlns:a="http://schemas.openxmlformats.org/drawingml/2006/main" prst="line">
            <a:avLst/>
          </a:prstGeom>
          <a:noFill xmlns:a="http://schemas.openxmlformats.org/drawingml/2006/main"/>
          <a:ln xmlns:a="http://schemas.openxmlformats.org/drawingml/2006/main" w="28575">
            <a:solidFill>
              <a:srgbClr val="38BDF8"/>
            </a:solidFill>
            <a:prstDash val="solid"/>
          </a:ln>
        </p:spPr>
      </p:sp>
      <p:sp>
        <p:nvSpPr>
          <p:cNvPr id="7" name="">
            <a:extLst xmlns:a="http://schemas.openxmlformats.org/drawingml/2006/main">
              <a:ext uri="{FF2B5EF4-FFF2-40B4-BE49-F238E27FC236}">
                <a16:creationId xmlns:a16="http://schemas.microsoft.com/office/drawing/2014/main" id="{C758E876-A774-4898-9841-11D2EEF33D58}"/>
              </a:ext>
            </a:extLst>
          </p:cNvPr>
          <p:cNvSpPr>
            <a:spLocks xmlns:a="http://schemas.openxmlformats.org/drawingml/2006/main" noGrp="1"/>
          </p:cNvSpPr>
          <p:nvPr/>
        </p:nvSpPr>
        <p:spPr>
          <a:xfrm xmlns:a="http://schemas.openxmlformats.org/drawingml/2006/main">
            <a:off x="723900" y="476250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8BDF8"/>
                </a:solidFill>
                <a:latin typeface="Helvetica Neue"/>
                <a:ea typeface="Helvetica Neue"/>
                <a:cs typeface="Helvetica Neue"/>
              </a:defRPr>
            </a:pPr>
            <a:r>
              <a:rPr sz="1125" b="1">
                <a:solidFill>
                  <a:srgbClr val="38BDF8"/>
                </a:solidFill>
                <a:latin typeface="Helvetica Neue"/>
                <a:ea typeface="Helvetica Neue"/>
                <a:cs typeface="Helvetica Neue"/>
              </a:rPr>
              <a:t>Presented by</a:t>
            </a:r>
          </a:p>
        </p:txBody>
      </p:sp>
      <p:sp>
        <p:nvSpPr>
          <p:cNvPr id="8" name="">
            <a:extLst xmlns:a="http://schemas.openxmlformats.org/drawingml/2006/main">
              <a:ext uri="{FF2B5EF4-FFF2-40B4-BE49-F238E27FC236}">
                <a16:creationId xmlns:a16="http://schemas.microsoft.com/office/drawing/2014/main" id="{A5094648-EFF0-4012-9C95-D559CB7F7A7B}"/>
              </a:ext>
            </a:extLst>
          </p:cNvPr>
          <p:cNvSpPr>
            <a:spLocks xmlns:a="http://schemas.openxmlformats.org/drawingml/2006/main" noGrp="1"/>
          </p:cNvSpPr>
          <p:nvPr/>
        </p:nvSpPr>
        <p:spPr>
          <a:xfrm xmlns:a="http://schemas.openxmlformats.org/drawingml/2006/main">
            <a:off x="723900" y="5057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[Your Name]</a:t>
            </a:r>
          </a:p>
        </p:txBody>
      </p:sp>
      <p:sp>
        <p:nvSpPr>
          <p:cNvPr id="9" name="">
            <a:extLst xmlns:a="http://schemas.openxmlformats.org/drawingml/2006/main">
              <a:ext uri="{FF2B5EF4-FFF2-40B4-BE49-F238E27FC236}">
                <a16:creationId xmlns:a16="http://schemas.microsoft.com/office/drawing/2014/main" id="{525C209B-E2CF-4F55-8681-0942DC154FB1}"/>
              </a:ext>
            </a:extLst>
          </p:cNvPr>
          <p:cNvSpPr>
            <a:spLocks xmlns:a="http://schemas.openxmlformats.org/drawingml/2006/main" noGrp="1"/>
          </p:cNvSpPr>
          <p:nvPr/>
        </p:nvSpPr>
        <p:spPr>
          <a:xfrm xmlns:a="http://schemas.openxmlformats.org/drawingml/2006/main">
            <a:off x="723900" y="5457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D8EAF7"/>
                </a:solidFill>
                <a:latin typeface="Helvetica Neue"/>
                <a:ea typeface="Helvetica Neue"/>
                <a:cs typeface="Helvetica Neue"/>
              </a:defRPr>
            </a:pPr>
            <a:r>
              <a:rPr sz="1275" b="0">
                <a:solidFill>
                  <a:srgbClr val="D8EAF7"/>
                </a:solidFill>
                <a:latin typeface="Helvetica Neue"/>
                <a:ea typeface="Helvetica Neue"/>
                <a:cs typeface="Helvetica Neue"/>
              </a:rPr>
              <a:t>[Branch / Roll No]</a:t>
            </a:r>
          </a:p>
        </p:txBody>
      </p:sp>
      <p:sp>
        <p:nvSpPr>
          <p:cNvPr id="10" name="">
            <a:extLst xmlns:a="http://schemas.openxmlformats.org/drawingml/2006/main">
              <a:ext uri="{FF2B5EF4-FFF2-40B4-BE49-F238E27FC236}">
                <a16:creationId xmlns:a16="http://schemas.microsoft.com/office/drawing/2014/main" id="{0FB326FB-1A1D-40D7-ADD6-FDB992257C20}"/>
              </a:ext>
            </a:extLst>
          </p:cNvPr>
          <p:cNvSpPr>
            <a:spLocks xmlns:a="http://schemas.openxmlformats.org/drawingml/2006/main" noGrp="1"/>
          </p:cNvSpPr>
          <p:nvPr/>
        </p:nvSpPr>
        <p:spPr>
          <a:xfrm xmlns:a="http://schemas.openxmlformats.org/drawingml/2006/main">
            <a:off x="723900" y="57912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D8EAF7"/>
                </a:solidFill>
                <a:latin typeface="Helvetica Neue"/>
                <a:ea typeface="Helvetica Neue"/>
                <a:cs typeface="Helvetica Neue"/>
              </a:defRPr>
            </a:pPr>
            <a:r>
              <a:rPr sz="1275" b="0">
                <a:solidFill>
                  <a:srgbClr val="D8EAF7"/>
                </a:solidFill>
                <a:latin typeface="Helvetica Neue"/>
                <a:ea typeface="Helvetica Neue"/>
                <a:cs typeface="Helvetica Neue"/>
              </a:rPr>
              <a:t>[College Name]</a:t>
            </a:r>
          </a:p>
        </p:txBody>
      </p:sp>
      <p:sp>
        <p:nvSpPr>
          <p:cNvPr id="11" name="">
            <a:extLst xmlns:a="http://schemas.openxmlformats.org/drawingml/2006/main">
              <a:ext uri="{FF2B5EF4-FFF2-40B4-BE49-F238E27FC236}">
                <a16:creationId xmlns:a16="http://schemas.microsoft.com/office/drawing/2014/main" id="{82AAE93F-C75C-48B6-A443-BD921C598BC8}"/>
              </a:ext>
            </a:extLst>
          </p:cNvPr>
          <p:cNvSpPr>
            <a:spLocks xmlns:a="http://schemas.openxmlformats.org/drawingml/2006/main" noGrp="1"/>
          </p:cNvSpPr>
          <p:nvPr/>
        </p:nvSpPr>
        <p:spPr>
          <a:xfrm xmlns:a="http://schemas.openxmlformats.org/drawingml/2006/main">
            <a:off x="9534525" y="6353175"/>
            <a:ext cx="2009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D8EAF7"/>
                </a:solidFill>
                <a:latin typeface="Helvetica Neue"/>
                <a:ea typeface="Helvetica Neue"/>
                <a:cs typeface="Helvetica Neue"/>
              </a:defRPr>
            </a:pPr>
            <a:r>
              <a:rPr sz="825" b="1">
                <a:solidFill>
                  <a:srgbClr val="D8EAF7"/>
                </a:solidFill>
                <a:latin typeface="Helvetica Neue"/>
                <a:ea typeface="Helvetica Neue"/>
                <a:cs typeface="Helvetica Neue"/>
              </a:rPr>
              <a:t>6-SLIDE PROJECT OVERVIEW</a:t>
            </a:r>
          </a:p>
        </p:txBody>
      </p:sp>
    </p:spTree>
    <p:extLst>
      <p:ext uri="{BB962C8B-B14F-4D97-AF65-F5344CB8AC3E}">
        <p14:creationId xmlns:p14="http://schemas.microsoft.com/office/powerpoint/2010/main" val="1576255103"/>
      </p:ext>
    </p:extLst>
  </p:cSld>
</p:sld>
</file>

<file path=ppt/slides/slide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9E1756C-49E4-44C1-A409-80837FFB60A6}"/>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EDC150D0-265F-45FF-8CEC-49AACA86B6F8}"/>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Problem statement and proposed solution</a:t>
            </a:r>
          </a:p>
        </p:txBody>
      </p:sp>
      <p:sp>
        <p:nvSpPr>
          <p:cNvPr id="3" name="">
            <a:extLst xmlns:a="http://schemas.openxmlformats.org/drawingml/2006/main">
              <a:ext uri="{FF2B5EF4-FFF2-40B4-BE49-F238E27FC236}">
                <a16:creationId xmlns:a16="http://schemas.microsoft.com/office/drawing/2014/main" id="{BBB6B563-DFBA-4BBC-B1E5-68D0EBB82C99}"/>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Manual placement operations create delay, inconsistency, and poor visibility</a:t>
            </a:r>
          </a:p>
        </p:txBody>
      </p:sp>
      <p:sp>
        <p:nvSpPr>
          <p:cNvPr id="4" name="">
            <a:extLst xmlns:a="http://schemas.openxmlformats.org/drawingml/2006/main">
              <a:ext uri="{FF2B5EF4-FFF2-40B4-BE49-F238E27FC236}">
                <a16:creationId xmlns:a16="http://schemas.microsoft.com/office/drawing/2014/main" id="{D8E35664-E179-4EE6-BC19-EDCB944AD098}"/>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ad32ebddddb4c9a">
            <a:extLst>
              <a:ext uri="{96DAC541-7B7A-43D3-8B79-37D633B846F1}">
                <asvg:svgBlip xmlns:asvg="http://schemas.microsoft.com/office/drawing/2016/SVG/main" r:embed="R14136a999d4e401c"/>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55B2C7F-7D02-400D-9D35-DA3B3F668764}"/>
              </a:ext>
            </a:extLst>
          </p:cNvPr>
          <p:cNvSpPr>
            <a:spLocks xmlns:a="http://schemas.openxmlformats.org/drawingml/2006/main" noGrp="1"/>
          </p:cNvSpPr>
          <p:nvPr/>
        </p:nvSpPr>
        <p:spPr>
          <a:xfrm xmlns:a="http://schemas.openxmlformats.org/drawingml/2006/main">
            <a:off x="590550" y="15621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85D75"/>
                </a:solidFill>
                <a:latin typeface="Helvetica Neue"/>
                <a:ea typeface="Helvetica Neue"/>
                <a:cs typeface="Helvetica Neue"/>
              </a:defRPr>
            </a:pPr>
            <a:r>
              <a:rPr sz="1125" b="1">
                <a:solidFill>
                  <a:srgbClr val="E85D75"/>
                </a:solidFill>
                <a:latin typeface="Helvetica Neue"/>
                <a:ea typeface="Helvetica Neue"/>
                <a:cs typeface="Helvetica Neue"/>
              </a:rPr>
              <a:t>TODAY</a:t>
            </a:r>
          </a:p>
        </p:txBody>
      </p:sp>
      <p:sp>
        <p:nvSpPr>
          <p:cNvPr id="7" name="">
            <a:extLst xmlns:a="http://schemas.openxmlformats.org/drawingml/2006/main">
              <a:ext uri="{FF2B5EF4-FFF2-40B4-BE49-F238E27FC236}">
                <a16:creationId xmlns:a16="http://schemas.microsoft.com/office/drawing/2014/main" id="{50AC8797-CBB0-420A-ABD2-F653D88C5832}"/>
              </a:ext>
            </a:extLst>
          </p:cNvPr>
          <p:cNvSpPr>
            <a:spLocks xmlns:a="http://schemas.openxmlformats.org/drawingml/2006/main" noGrp="1"/>
          </p:cNvSpPr>
          <p:nvPr/>
        </p:nvSpPr>
        <p:spPr>
          <a:xfrm xmlns:a="http://schemas.openxmlformats.org/drawingml/2006/main">
            <a:off x="590550" y="1838325"/>
            <a:ext cx="365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B1F3A"/>
                </a:solidFill>
                <a:latin typeface="Helvetica Neue"/>
                <a:ea typeface="Helvetica Neue"/>
                <a:cs typeface="Helvetica Neue"/>
              </a:defRPr>
            </a:pPr>
            <a:r>
              <a:rPr sz="2325" b="1">
                <a:solidFill>
                  <a:srgbClr val="0B1F3A"/>
                </a:solidFill>
                <a:latin typeface="Helvetica Neue"/>
                <a:ea typeface="Helvetica Neue"/>
                <a:cs typeface="Helvetica Neue"/>
              </a:rPr>
              <a:t>Fragmented process</a:t>
            </a:r>
          </a:p>
        </p:txBody>
      </p:sp>
      <p:sp>
        <p:nvSpPr>
          <p:cNvPr id="8" name="">
            <a:extLst xmlns:a="http://schemas.openxmlformats.org/drawingml/2006/main">
              <a:ext uri="{FF2B5EF4-FFF2-40B4-BE49-F238E27FC236}">
                <a16:creationId xmlns:a16="http://schemas.microsoft.com/office/drawing/2014/main" id="{10B44F77-2BFB-423F-80F3-1F0F8256187B}"/>
              </a:ext>
            </a:extLst>
          </p:cNvPr>
          <p:cNvSpPr>
            <a:spLocks xmlns:a="http://schemas.openxmlformats.org/drawingml/2006/main" noGrp="1"/>
          </p:cNvSpPr>
          <p:nvPr/>
        </p:nvSpPr>
        <p:spPr>
          <a:xfrm xmlns:a="http://schemas.openxmlformats.org/drawingml/2006/main">
            <a:off x="590550" y="2419350"/>
            <a:ext cx="457200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Spreadsheets require repeated eligibility checks and manual updates.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Students miss deadlines while recruiters review unsuitable profiles.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Duplicate applications and multiple offers reduce policy fairness.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Placement officers lack a live, college-wide view of outcomes.</a:t>
            </a:r>
          </a:p>
        </p:txBody>
      </p:sp>
      <p:sp>
        <p:nvSpPr>
          <p:cNvPr id="9" name="">
            <a:extLst xmlns:a="http://schemas.openxmlformats.org/drawingml/2006/main">
              <a:ext uri="{FF2B5EF4-FFF2-40B4-BE49-F238E27FC236}">
                <a16:creationId xmlns:a16="http://schemas.microsoft.com/office/drawing/2014/main" id="{B2666D09-163F-46A8-A5EC-B106B39976E1}"/>
              </a:ext>
            </a:extLst>
          </p:cNvPr>
          <p:cNvSpPr>
            <a:spLocks xmlns:a="http://schemas.openxmlformats.org/drawingml/2006/main" noGrp="1"/>
          </p:cNvSpPr>
          <p:nvPr/>
        </p:nvSpPr>
        <p:spPr>
          <a:xfrm xmlns:a="http://schemas.openxmlformats.org/drawingml/2006/main">
            <a:off x="5905500" y="1695450"/>
            <a:ext cx="161925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C9D6E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6E765FC-52D9-418D-8025-8633AC892013}"/>
              </a:ext>
            </a:extLst>
          </p:cNvPr>
          <p:cNvSpPr>
            <a:spLocks xmlns:a="http://schemas.openxmlformats.org/drawingml/2006/main" noGrp="1"/>
          </p:cNvSpPr>
          <p:nvPr/>
        </p:nvSpPr>
        <p:spPr>
          <a:xfrm xmlns:a="http://schemas.openxmlformats.org/drawingml/2006/main">
            <a:off x="6096000" y="18764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85D75"/>
                </a:solidFill>
                <a:latin typeface="Helvetica Neue"/>
                <a:ea typeface="Helvetica Neue"/>
                <a:cs typeface="Helvetica Neue"/>
              </a:defRPr>
            </a:pPr>
            <a:r>
              <a:rPr sz="1050" b="1">
                <a:solidFill>
                  <a:srgbClr val="E85D75"/>
                </a:solidFill>
                <a:latin typeface="Helvetica Neue"/>
                <a:ea typeface="Helvetica Neue"/>
                <a:cs typeface="Helvetica Neue"/>
              </a:rPr>
              <a:t>MANUAL</a:t>
            </a:r>
          </a:p>
        </p:txBody>
      </p:sp>
      <p:sp>
        <p:nvSpPr>
          <p:cNvPr id="11" name="">
            <a:extLst xmlns:a="http://schemas.openxmlformats.org/drawingml/2006/main">
              <a:ext uri="{FF2B5EF4-FFF2-40B4-BE49-F238E27FC236}">
                <a16:creationId xmlns:a16="http://schemas.microsoft.com/office/drawing/2014/main" id="{5381A2E6-D858-4026-989F-9838C0432336}"/>
              </a:ext>
            </a:extLst>
          </p:cNvPr>
          <p:cNvSpPr>
            <a:spLocks xmlns:a="http://schemas.openxmlformats.org/drawingml/2006/main" noGrp="1"/>
          </p:cNvSpPr>
          <p:nvPr/>
        </p:nvSpPr>
        <p:spPr>
          <a:xfrm xmlns:a="http://schemas.openxmlformats.org/drawingml/2006/main">
            <a:off x="6134100" y="22479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6D7B6BA8-8EE7-490E-B099-B4DA04FC4A40}"/>
              </a:ext>
            </a:extLst>
          </p:cNvPr>
          <p:cNvSpPr>
            <a:spLocks xmlns:a="http://schemas.openxmlformats.org/drawingml/2006/main" noGrp="1"/>
          </p:cNvSpPr>
          <p:nvPr/>
        </p:nvSpPr>
        <p:spPr>
          <a:xfrm xmlns:a="http://schemas.openxmlformats.org/drawingml/2006/main">
            <a:off x="6134100" y="24384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21B422FE-488A-4F2C-98DD-1E51C04B5868}"/>
              </a:ext>
            </a:extLst>
          </p:cNvPr>
          <p:cNvSpPr>
            <a:spLocks xmlns:a="http://schemas.openxmlformats.org/drawingml/2006/main" noGrp="1"/>
          </p:cNvSpPr>
          <p:nvPr/>
        </p:nvSpPr>
        <p:spPr>
          <a:xfrm xmlns:a="http://schemas.openxmlformats.org/drawingml/2006/main">
            <a:off x="6134100" y="26289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6F3D95B5-AAFB-45D3-A31C-B126E8E22EA2}"/>
              </a:ext>
            </a:extLst>
          </p:cNvPr>
          <p:cNvSpPr>
            <a:spLocks xmlns:a="http://schemas.openxmlformats.org/drawingml/2006/main" noGrp="1"/>
          </p:cNvSpPr>
          <p:nvPr/>
        </p:nvSpPr>
        <p:spPr>
          <a:xfrm xmlns:a="http://schemas.openxmlformats.org/drawingml/2006/main">
            <a:off x="6134100" y="28194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A79C4646-A49A-40B5-99AD-7CB67C0B6BD8}"/>
              </a:ext>
            </a:extLst>
          </p:cNvPr>
          <p:cNvSpPr>
            <a:spLocks xmlns:a="http://schemas.openxmlformats.org/drawingml/2006/main" noGrp="1"/>
          </p:cNvSpPr>
          <p:nvPr/>
        </p:nvSpPr>
        <p:spPr>
          <a:xfrm xmlns:a="http://schemas.openxmlformats.org/drawingml/2006/main">
            <a:off x="642937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F33D0DD-DFF0-437D-8157-F423E08D4B53}"/>
              </a:ext>
            </a:extLst>
          </p:cNvPr>
          <p:cNvSpPr>
            <a:spLocks xmlns:a="http://schemas.openxmlformats.org/drawingml/2006/main" noGrp="1"/>
          </p:cNvSpPr>
          <p:nvPr/>
        </p:nvSpPr>
        <p:spPr>
          <a:xfrm xmlns:a="http://schemas.openxmlformats.org/drawingml/2006/main">
            <a:off x="671512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3D80F5E0-8029-451F-B9DC-D71BC5CDDB7B}"/>
              </a:ext>
            </a:extLst>
          </p:cNvPr>
          <p:cNvSpPr>
            <a:spLocks xmlns:a="http://schemas.openxmlformats.org/drawingml/2006/main" noGrp="1"/>
          </p:cNvSpPr>
          <p:nvPr/>
        </p:nvSpPr>
        <p:spPr>
          <a:xfrm xmlns:a="http://schemas.openxmlformats.org/drawingml/2006/main">
            <a:off x="700087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5830E4B8-C3F6-4284-A562-5402B94EF280}"/>
              </a:ext>
            </a:extLst>
          </p:cNvPr>
          <p:cNvSpPr>
            <a:spLocks xmlns:a="http://schemas.openxmlformats.org/drawingml/2006/main" noGrp="1"/>
          </p:cNvSpPr>
          <p:nvPr/>
        </p:nvSpPr>
        <p:spPr>
          <a:xfrm xmlns:a="http://schemas.openxmlformats.org/drawingml/2006/main">
            <a:off x="8810625" y="1695450"/>
            <a:ext cx="2428875" cy="1466850"/>
          </a:xfrm>
          <a:prstGeom xmlns:a="http://schemas.openxmlformats.org/drawingml/2006/main" prst="roundRect">
            <a:avLst>
              <a:gd name="adj" fmla="val 10390"/>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315F3260-712A-4B04-BA25-58F58327E5FE}"/>
              </a:ext>
            </a:extLst>
          </p:cNvPr>
          <p:cNvSpPr>
            <a:spLocks xmlns:a="http://schemas.openxmlformats.org/drawingml/2006/main" noGrp="1"/>
          </p:cNvSpPr>
          <p:nvPr/>
        </p:nvSpPr>
        <p:spPr>
          <a:xfrm xmlns:a="http://schemas.openxmlformats.org/drawingml/2006/main">
            <a:off x="9020175" y="1866900"/>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CENTRAL PORTAL</a:t>
            </a:r>
          </a:p>
        </p:txBody>
      </p:sp>
      <p:sp>
        <p:nvSpPr>
          <p:cNvPr id="20" name="">
            <a:extLst xmlns:a="http://schemas.openxmlformats.org/drawingml/2006/main">
              <a:ext uri="{FF2B5EF4-FFF2-40B4-BE49-F238E27FC236}">
                <a16:creationId xmlns:a16="http://schemas.microsoft.com/office/drawing/2014/main" id="{9F2471A4-9302-4ECF-B7FF-E84A99B5919F}"/>
              </a:ext>
            </a:extLst>
          </p:cNvPr>
          <p:cNvSpPr>
            <a:spLocks xmlns:a="http://schemas.openxmlformats.org/drawingml/2006/main" noGrp="1"/>
          </p:cNvSpPr>
          <p:nvPr/>
        </p:nvSpPr>
        <p:spPr>
          <a:xfrm xmlns:a="http://schemas.openxmlformats.org/drawingml/2006/main">
            <a:off x="9039225" y="2257425"/>
            <a:ext cx="1981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256"/>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One verified source</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of recruitment data</a:t>
            </a:r>
          </a:p>
        </p:txBody>
      </p:sp>
      <p:cxnSp>
        <p:nvCxnSpPr>
          <p:cNvPr id="49" name=""/>
          <p:cNvCxnSpPr>
            <a:stCxn xmlns:a="http://schemas.openxmlformats.org/drawingml/2006/main" id="9" idx="3"/>
            <a:endCxn xmlns:a="http://schemas.openxmlformats.org/drawingml/2006/main" id="18" idx="1"/>
          </p:cNvCxnSpPr>
          <p:nvPr/>
        </p:nvCxnSpPr>
        <p:spPr>
          <a:xfrm xmlns:a="http://schemas.openxmlformats.org/drawingml/2006/main">
            <a:off x="7524750" y="2428875"/>
            <a:ext cx="1285875" cy="0"/>
          </a:xfrm>
          <a:prstGeom xmlns:a="http://schemas.openxmlformats.org/drawingml/2006/main" prst="straightConnector1">
            <a:avLst/>
          </a:prstGeom>
          <a:ln xmlns:a="http://schemas.openxmlformats.org/drawingml/2006/main" w="38100">
            <a:solidFill>
              <a:srgbClr val="0EA5E9"/>
            </a:solidFill>
            <a:prstDash val="solid"/>
            <a:tailEnd type="triangle" w="med" len="med"/>
          </a:ln>
        </p:spPr>
      </p:cxnSp>
      <p:sp>
        <p:nvSpPr>
          <p:cNvPr id="22" name="">
            <a:extLst xmlns:a="http://schemas.openxmlformats.org/drawingml/2006/main">
              <a:ext uri="{FF2B5EF4-FFF2-40B4-BE49-F238E27FC236}">
                <a16:creationId xmlns:a16="http://schemas.microsoft.com/office/drawing/2014/main" id="{63A94BAB-88FA-48A1-B7FF-B9F8AF99312A}"/>
              </a:ext>
            </a:extLst>
          </p:cNvPr>
          <p:cNvSpPr>
            <a:spLocks xmlns:a="http://schemas.openxmlformats.org/drawingml/2006/main" noGrp="1"/>
          </p:cNvSpPr>
          <p:nvPr/>
        </p:nvSpPr>
        <p:spPr>
          <a:xfrm xmlns:a="http://schemas.openxmlformats.org/drawingml/2006/main">
            <a:off x="5905500" y="36385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B981"/>
                </a:solidFill>
                <a:latin typeface="Helvetica Neue"/>
                <a:ea typeface="Helvetica Neue"/>
                <a:cs typeface="Helvetica Neue"/>
              </a:defRPr>
            </a:pPr>
            <a:r>
              <a:rPr sz="1125" b="1">
                <a:solidFill>
                  <a:srgbClr val="10B981"/>
                </a:solidFill>
                <a:latin typeface="Helvetica Neue"/>
                <a:ea typeface="Helvetica Neue"/>
                <a:cs typeface="Helvetica Neue"/>
              </a:rPr>
              <a:t>PROPOSED</a:t>
            </a:r>
          </a:p>
        </p:txBody>
      </p:sp>
      <p:sp>
        <p:nvSpPr>
          <p:cNvPr id="23" name="">
            <a:extLst xmlns:a="http://schemas.openxmlformats.org/drawingml/2006/main">
              <a:ext uri="{FF2B5EF4-FFF2-40B4-BE49-F238E27FC236}">
                <a16:creationId xmlns:a16="http://schemas.microsoft.com/office/drawing/2014/main" id="{ACD39EC8-A842-48EC-931F-743381BDDB55}"/>
              </a:ext>
            </a:extLst>
          </p:cNvPr>
          <p:cNvSpPr>
            <a:spLocks xmlns:a="http://schemas.openxmlformats.org/drawingml/2006/main" noGrp="1"/>
          </p:cNvSpPr>
          <p:nvPr/>
        </p:nvSpPr>
        <p:spPr>
          <a:xfrm xmlns:a="http://schemas.openxmlformats.org/drawingml/2006/main">
            <a:off x="5905500" y="39243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Centralize the complete cycle</a:t>
            </a:r>
          </a:p>
        </p:txBody>
      </p:sp>
      <p:sp>
        <p:nvSpPr>
          <p:cNvPr id="24" name="">
            <a:extLst xmlns:a="http://schemas.openxmlformats.org/drawingml/2006/main">
              <a:ext uri="{FF2B5EF4-FFF2-40B4-BE49-F238E27FC236}">
                <a16:creationId xmlns:a16="http://schemas.microsoft.com/office/drawing/2014/main" id="{46454A37-8009-4ABA-840F-442EA0BFE34B}"/>
              </a:ext>
            </a:extLst>
          </p:cNvPr>
          <p:cNvSpPr>
            <a:spLocks xmlns:a="http://schemas.openxmlformats.org/drawingml/2006/main" noGrp="1"/>
          </p:cNvSpPr>
          <p:nvPr/>
        </p:nvSpPr>
        <p:spPr>
          <a:xfrm xmlns:a="http://schemas.openxmlformats.org/drawingml/2006/main">
            <a:off x="5905500" y="4457700"/>
            <a:ext cx="533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650" b="0">
                <a:solidFill>
                  <a:srgbClr val="334155"/>
                </a:solidFill>
                <a:latin typeface="Helvetica Neue"/>
                <a:ea typeface="Helvetica Neue"/>
                <a:cs typeface="Helvetica Neue"/>
              </a:defRPr>
            </a:pPr>
            <a:r>
              <a:rPr sz="1650" b="0">
                <a:solidFill>
                  <a:srgbClr val="334155"/>
                </a:solidFill>
                <a:latin typeface="Helvetica Neue"/>
                <a:ea typeface="Helvetica Neue"/>
                <a:cs typeface="Helvetica Neue"/>
              </a:rPr>
              <a:t>The portal applies one rule set for drive publishing, eligibility, applications, hiring stages, and institutional analytics.</a:t>
            </a:r>
          </a:p>
        </p:txBody>
      </p:sp>
      <p:sp>
        <p:nvSpPr>
          <p:cNvPr id="25" name="">
            <a:extLst xmlns:a="http://schemas.openxmlformats.org/drawingml/2006/main">
              <a:ext uri="{FF2B5EF4-FFF2-40B4-BE49-F238E27FC236}">
                <a16:creationId xmlns:a16="http://schemas.microsoft.com/office/drawing/2014/main" id="{165527B3-FCAA-4B2D-B6F3-8E238F6E435E}"/>
              </a:ext>
            </a:extLst>
          </p:cNvPr>
          <p:cNvSpPr>
            <a:spLocks xmlns:a="http://schemas.openxmlformats.org/drawingml/2006/main" noGrp="1"/>
          </p:cNvSpPr>
          <p:nvPr/>
        </p:nvSpPr>
        <p:spPr>
          <a:xfrm xmlns:a="http://schemas.openxmlformats.org/drawingml/2006/main">
            <a:off x="5905500" y="55816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EA5E9"/>
                </a:solidFill>
                <a:latin typeface="Helvetica Neue"/>
                <a:ea typeface="Helvetica Neue"/>
                <a:cs typeface="Helvetica Neue"/>
              </a:defRPr>
            </a:pPr>
            <a:r>
              <a:rPr sz="1050" b="1">
                <a:solidFill>
                  <a:srgbClr val="0EA5E9"/>
                </a:solidFill>
                <a:latin typeface="Helvetica Neue"/>
                <a:ea typeface="Helvetica Neue"/>
                <a:cs typeface="Helvetica Neue"/>
              </a:rPr>
              <a:t>Outcome</a:t>
            </a:r>
          </a:p>
        </p:txBody>
      </p:sp>
      <p:sp>
        <p:nvSpPr>
          <p:cNvPr id="26" name="">
            <a:extLst xmlns:a="http://schemas.openxmlformats.org/drawingml/2006/main">
              <a:ext uri="{FF2B5EF4-FFF2-40B4-BE49-F238E27FC236}">
                <a16:creationId xmlns:a16="http://schemas.microsoft.com/office/drawing/2014/main" id="{F4D51340-E2C6-4109-8A47-C8DE83924057}"/>
              </a:ext>
            </a:extLst>
          </p:cNvPr>
          <p:cNvSpPr>
            <a:spLocks xmlns:a="http://schemas.openxmlformats.org/drawingml/2006/main" noGrp="1"/>
          </p:cNvSpPr>
          <p:nvPr/>
        </p:nvSpPr>
        <p:spPr>
          <a:xfrm xmlns:a="http://schemas.openxmlformats.org/drawingml/2006/main">
            <a:off x="6800850" y="5524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321"/>
          </a:bodyPr>
          <a:lstStyle xmlns:a="http://schemas.openxmlformats.org/drawingml/2006/main"/>
          <a:p xmlns:a="http://schemas.openxmlformats.org/drawingml/2006/main">
            <a:pPr algn="l">
              <a:defRPr sz="1575" b="1">
                <a:solidFill>
                  <a:srgbClr val="0B1F3A"/>
                </a:solidFill>
                <a:latin typeface="Helvetica Neue"/>
                <a:ea typeface="Helvetica Neue"/>
                <a:cs typeface="Helvetica Neue"/>
              </a:defRPr>
            </a:pPr>
            <a:r>
              <a:rPr sz="1575" b="1">
                <a:solidFill>
                  <a:srgbClr val="0B1F3A"/>
                </a:solidFill>
                <a:latin typeface="Helvetica Neue"/>
                <a:ea typeface="Helvetica Neue"/>
                <a:cs typeface="Helvetica Neue"/>
              </a:rPr>
              <a:t>Less manual work. Clearer decisions. Fairer access.</a:t>
            </a:r>
          </a:p>
        </p:txBody>
      </p:sp>
      <p:sp>
        <p:nvSpPr>
          <p:cNvPr id="27" name="">
            <a:extLst xmlns:a="http://schemas.openxmlformats.org/drawingml/2006/main">
              <a:ext uri="{FF2B5EF4-FFF2-40B4-BE49-F238E27FC236}">
                <a16:creationId xmlns:a16="http://schemas.microsoft.com/office/drawing/2014/main" id="{463B4E58-E48D-4B5B-A0A3-DFD9D4FC888E}"/>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28" name="">
            <a:extLst xmlns:a="http://schemas.openxmlformats.org/drawingml/2006/main">
              <a:ext uri="{FF2B5EF4-FFF2-40B4-BE49-F238E27FC236}">
                <a16:creationId xmlns:a16="http://schemas.microsoft.com/office/drawing/2014/main" id="{D98E6A86-38AD-4632-9658-C8693E38A8FC}"/>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628851746"/>
      </p:ext>
    </p:extLst>
  </p:cSld>
</p:sld>
</file>

<file path=ppt/slides/slide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E37E011-2B4E-4EBD-85D5-F6EB5454ACE0}"/>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1397EB46-4602-4A8D-A122-20D1602DDDA3}"/>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User roles and end-to-end workflow</a:t>
            </a:r>
          </a:p>
        </p:txBody>
      </p:sp>
      <p:sp>
        <p:nvSpPr>
          <p:cNvPr id="3" name="">
            <a:extLst xmlns:a="http://schemas.openxmlformats.org/drawingml/2006/main">
              <a:ext uri="{FF2B5EF4-FFF2-40B4-BE49-F238E27FC236}">
                <a16:creationId xmlns:a16="http://schemas.microsoft.com/office/drawing/2014/main" id="{3BD9FA4C-0E85-4953-878A-C1F5002B9939}"/>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Three roles operate inside one controlled recruitment pipeline</a:t>
            </a:r>
          </a:p>
        </p:txBody>
      </p:sp>
      <p:sp>
        <p:nvSpPr>
          <p:cNvPr id="4" name="">
            <a:extLst xmlns:a="http://schemas.openxmlformats.org/drawingml/2006/main">
              <a:ext uri="{FF2B5EF4-FFF2-40B4-BE49-F238E27FC236}">
                <a16:creationId xmlns:a16="http://schemas.microsoft.com/office/drawing/2014/main" id="{2940139B-244D-409C-9951-00F0DDF0A27D}"/>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7db2f0e10db4c33">
            <a:extLst>
              <a:ext uri="{96DAC541-7B7A-43D3-8B79-37D633B846F1}">
                <asvg:svgBlip xmlns:asvg="http://schemas.microsoft.com/office/drawing/2016/SVG/main" r:embed="Re6c741f2956b4c31"/>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BD9A14-91B6-4E22-AF51-FD11F37E2AF0}"/>
              </a:ext>
            </a:extLst>
          </p:cNvPr>
          <p:cNvSpPr>
            <a:spLocks xmlns:a="http://schemas.openxmlformats.org/drawingml/2006/main" noGrp="1"/>
          </p:cNvSpPr>
          <p:nvPr/>
        </p:nvSpPr>
        <p:spPr>
          <a:xfrm xmlns:a="http://schemas.openxmlformats.org/drawingml/2006/main">
            <a:off x="590550" y="1581150"/>
            <a:ext cx="2819400" cy="552450"/>
          </a:xfrm>
          <a:prstGeom xmlns:a="http://schemas.openxmlformats.org/drawingml/2006/main" prst="roundRect">
            <a:avLst>
              <a:gd name="adj" fmla="val 27586"/>
            </a:avLst>
          </a:prstGeom>
          <a:solidFill xmlns:a="http://schemas.openxmlformats.org/drawingml/2006/main">
            <a:srgbClr val="E8F5F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BB0E65D-CA1B-4172-867D-BD0572A0B0BF}"/>
              </a:ext>
            </a:extLst>
          </p:cNvPr>
          <p:cNvSpPr>
            <a:spLocks xmlns:a="http://schemas.openxmlformats.org/drawingml/2006/main" noGrp="1"/>
          </p:cNvSpPr>
          <p:nvPr/>
        </p:nvSpPr>
        <p:spPr>
          <a:xfrm xmlns:a="http://schemas.openxmlformats.org/drawingml/2006/main">
            <a:off x="742950" y="1666875"/>
            <a:ext cx="381000" cy="381000"/>
          </a:xfrm>
          <a:prstGeom xmlns:a="http://schemas.openxmlformats.org/drawingml/2006/main" prst="ellipse">
            <a:avLst/>
          </a:prstGeom>
          <a:solidFill xmlns:a="http://schemas.openxmlformats.org/drawingml/2006/main">
            <a:srgbClr val="0EA5E9"/>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ST</a:t>
            </a:r>
          </a:p>
        </p:txBody>
      </p:sp>
      <p:sp>
        <p:nvSpPr>
          <p:cNvPr id="8" name="">
            <a:extLst xmlns:a="http://schemas.openxmlformats.org/drawingml/2006/main">
              <a:ext uri="{FF2B5EF4-FFF2-40B4-BE49-F238E27FC236}">
                <a16:creationId xmlns:a16="http://schemas.microsoft.com/office/drawing/2014/main" id="{895C6000-D0F0-4693-A077-1AB89F71BFB2}"/>
              </a:ext>
            </a:extLst>
          </p:cNvPr>
          <p:cNvSpPr>
            <a:spLocks xmlns:a="http://schemas.openxmlformats.org/drawingml/2006/main" noGrp="1"/>
          </p:cNvSpPr>
          <p:nvPr/>
        </p:nvSpPr>
        <p:spPr>
          <a:xfrm xmlns:a="http://schemas.openxmlformats.org/drawingml/2006/main">
            <a:off x="1257300" y="1666875"/>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Student</a:t>
            </a:r>
          </a:p>
        </p:txBody>
      </p:sp>
      <p:sp>
        <p:nvSpPr>
          <p:cNvPr id="9" name="">
            <a:extLst xmlns:a="http://schemas.openxmlformats.org/drawingml/2006/main">
              <a:ext uri="{FF2B5EF4-FFF2-40B4-BE49-F238E27FC236}">
                <a16:creationId xmlns:a16="http://schemas.microsoft.com/office/drawing/2014/main" id="{AC6755C7-2F9E-4442-874C-408C748D91A6}"/>
              </a:ext>
            </a:extLst>
          </p:cNvPr>
          <p:cNvSpPr>
            <a:spLocks xmlns:a="http://schemas.openxmlformats.org/drawingml/2006/main" noGrp="1"/>
          </p:cNvSpPr>
          <p:nvPr/>
        </p:nvSpPr>
        <p:spPr>
          <a:xfrm xmlns:a="http://schemas.openxmlformats.org/drawingml/2006/main">
            <a:off x="1257300" y="18859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Profile, eligibility, application status</a:t>
            </a:r>
          </a:p>
        </p:txBody>
      </p:sp>
      <p:sp>
        <p:nvSpPr>
          <p:cNvPr id="10" name="">
            <a:extLst xmlns:a="http://schemas.openxmlformats.org/drawingml/2006/main">
              <a:ext uri="{FF2B5EF4-FFF2-40B4-BE49-F238E27FC236}">
                <a16:creationId xmlns:a16="http://schemas.microsoft.com/office/drawing/2014/main" id="{125E3172-AF2E-4FBB-8BBC-7C6BA7EA614C}"/>
              </a:ext>
            </a:extLst>
          </p:cNvPr>
          <p:cNvSpPr>
            <a:spLocks xmlns:a="http://schemas.openxmlformats.org/drawingml/2006/main" noGrp="1"/>
          </p:cNvSpPr>
          <p:nvPr/>
        </p:nvSpPr>
        <p:spPr>
          <a:xfrm xmlns:a="http://schemas.openxmlformats.org/drawingml/2006/main">
            <a:off x="590550" y="2295525"/>
            <a:ext cx="2819400" cy="552450"/>
          </a:xfrm>
          <a:prstGeom xmlns:a="http://schemas.openxmlformats.org/drawingml/2006/main" prst="roundRect">
            <a:avLst>
              <a:gd name="adj" fmla="val 27586"/>
            </a:avLst>
          </a:prstGeom>
          <a:solidFill xmlns:a="http://schemas.openxmlformats.org/drawingml/2006/main">
            <a:srgbClr val="EEF2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24561CB-838E-4E20-8E36-40379228426F}"/>
              </a:ext>
            </a:extLst>
          </p:cNvPr>
          <p:cNvSpPr>
            <a:spLocks xmlns:a="http://schemas.openxmlformats.org/drawingml/2006/main" noGrp="1"/>
          </p:cNvSpPr>
          <p:nvPr/>
        </p:nvSpPr>
        <p:spPr>
          <a:xfrm xmlns:a="http://schemas.openxmlformats.org/drawingml/2006/main">
            <a:off x="742950" y="2381250"/>
            <a:ext cx="381000" cy="38100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RC</a:t>
            </a:r>
          </a:p>
        </p:txBody>
      </p:sp>
      <p:sp>
        <p:nvSpPr>
          <p:cNvPr id="12" name="">
            <a:extLst xmlns:a="http://schemas.openxmlformats.org/drawingml/2006/main">
              <a:ext uri="{FF2B5EF4-FFF2-40B4-BE49-F238E27FC236}">
                <a16:creationId xmlns:a16="http://schemas.microsoft.com/office/drawing/2014/main" id="{09B999BC-41BE-4F09-8CE2-9B44BB74E9E3}"/>
              </a:ext>
            </a:extLst>
          </p:cNvPr>
          <p:cNvSpPr>
            <a:spLocks xmlns:a="http://schemas.openxmlformats.org/drawingml/2006/main" noGrp="1"/>
          </p:cNvSpPr>
          <p:nvPr/>
        </p:nvSpPr>
        <p:spPr>
          <a:xfrm xmlns:a="http://schemas.openxmlformats.org/drawingml/2006/main">
            <a:off x="1257300" y="23812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Recruiter</a:t>
            </a:r>
          </a:p>
        </p:txBody>
      </p:sp>
      <p:sp>
        <p:nvSpPr>
          <p:cNvPr id="13" name="">
            <a:extLst xmlns:a="http://schemas.openxmlformats.org/drawingml/2006/main">
              <a:ext uri="{FF2B5EF4-FFF2-40B4-BE49-F238E27FC236}">
                <a16:creationId xmlns:a16="http://schemas.microsoft.com/office/drawing/2014/main" id="{F6D53A70-D50B-4D7C-BDD8-9AD0F4D12CD4}"/>
              </a:ext>
            </a:extLst>
          </p:cNvPr>
          <p:cNvSpPr>
            <a:spLocks xmlns:a="http://schemas.openxmlformats.org/drawingml/2006/main" noGrp="1"/>
          </p:cNvSpPr>
          <p:nvPr/>
        </p:nvSpPr>
        <p:spPr>
          <a:xfrm xmlns:a="http://schemas.openxmlformats.org/drawingml/2006/main">
            <a:off x="1257300" y="2600325"/>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9196"/>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Drives, screening, interviews, offers</a:t>
            </a:r>
          </a:p>
        </p:txBody>
      </p:sp>
      <p:sp>
        <p:nvSpPr>
          <p:cNvPr id="14" name="">
            <a:extLst xmlns:a="http://schemas.openxmlformats.org/drawingml/2006/main">
              <a:ext uri="{FF2B5EF4-FFF2-40B4-BE49-F238E27FC236}">
                <a16:creationId xmlns:a16="http://schemas.microsoft.com/office/drawing/2014/main" id="{47CE3684-940C-4BCF-8FE0-4834FD06875B}"/>
              </a:ext>
            </a:extLst>
          </p:cNvPr>
          <p:cNvSpPr>
            <a:spLocks xmlns:a="http://schemas.openxmlformats.org/drawingml/2006/main" noGrp="1"/>
          </p:cNvSpPr>
          <p:nvPr/>
        </p:nvSpPr>
        <p:spPr>
          <a:xfrm xmlns:a="http://schemas.openxmlformats.org/drawingml/2006/main">
            <a:off x="590550" y="3009900"/>
            <a:ext cx="2819400" cy="552450"/>
          </a:xfrm>
          <a:prstGeom xmlns:a="http://schemas.openxmlformats.org/drawingml/2006/main" prst="roundRect">
            <a:avLst>
              <a:gd name="adj" fmla="val 27586"/>
            </a:avLst>
          </a:prstGeom>
          <a:solidFill xmlns:a="http://schemas.openxmlformats.org/drawingml/2006/main">
            <a:srgbClr val="ECFDF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86BB046-78AF-423D-89EE-96C5709CC613}"/>
              </a:ext>
            </a:extLst>
          </p:cNvPr>
          <p:cNvSpPr>
            <a:spLocks xmlns:a="http://schemas.openxmlformats.org/drawingml/2006/main" noGrp="1"/>
          </p:cNvSpPr>
          <p:nvPr/>
        </p:nvSpPr>
        <p:spPr>
          <a:xfrm xmlns:a="http://schemas.openxmlformats.org/drawingml/2006/main">
            <a:off x="742950" y="3095625"/>
            <a:ext cx="381000" cy="38100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TP</a:t>
            </a:r>
          </a:p>
        </p:txBody>
      </p:sp>
      <p:sp>
        <p:nvSpPr>
          <p:cNvPr id="16" name="">
            <a:extLst xmlns:a="http://schemas.openxmlformats.org/drawingml/2006/main">
              <a:ext uri="{FF2B5EF4-FFF2-40B4-BE49-F238E27FC236}">
                <a16:creationId xmlns:a16="http://schemas.microsoft.com/office/drawing/2014/main" id="{2E872FF6-DDF2-44BC-BE26-1BA95EA20C17}"/>
              </a:ext>
            </a:extLst>
          </p:cNvPr>
          <p:cNvSpPr>
            <a:spLocks xmlns:a="http://schemas.openxmlformats.org/drawingml/2006/main" noGrp="1"/>
          </p:cNvSpPr>
          <p:nvPr/>
        </p:nvSpPr>
        <p:spPr>
          <a:xfrm xmlns:a="http://schemas.openxmlformats.org/drawingml/2006/main">
            <a:off x="1257300" y="3095625"/>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TPO / Admin</a:t>
            </a:r>
          </a:p>
        </p:txBody>
      </p:sp>
      <p:sp>
        <p:nvSpPr>
          <p:cNvPr id="17" name="">
            <a:extLst xmlns:a="http://schemas.openxmlformats.org/drawingml/2006/main">
              <a:ext uri="{FF2B5EF4-FFF2-40B4-BE49-F238E27FC236}">
                <a16:creationId xmlns:a16="http://schemas.microsoft.com/office/drawing/2014/main" id="{F82723AD-09DF-43F1-B320-D08E294DC6A2}"/>
              </a:ext>
            </a:extLst>
          </p:cNvPr>
          <p:cNvSpPr>
            <a:spLocks xmlns:a="http://schemas.openxmlformats.org/drawingml/2006/main" noGrp="1"/>
          </p:cNvSpPr>
          <p:nvPr/>
        </p:nvSpPr>
        <p:spPr>
          <a:xfrm xmlns:a="http://schemas.openxmlformats.org/drawingml/2006/main">
            <a:off x="1257300" y="331470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Policy, oversight, analytics</a:t>
            </a:r>
          </a:p>
        </p:txBody>
      </p:sp>
      <p:sp>
        <p:nvSpPr>
          <p:cNvPr id="18" name="">
            <a:extLst xmlns:a="http://schemas.openxmlformats.org/drawingml/2006/main">
              <a:ext uri="{FF2B5EF4-FFF2-40B4-BE49-F238E27FC236}">
                <a16:creationId xmlns:a16="http://schemas.microsoft.com/office/drawing/2014/main" id="{15282F7C-D224-40C4-84DC-B66758343B3B}"/>
              </a:ext>
            </a:extLst>
          </p:cNvPr>
          <p:cNvSpPr>
            <a:spLocks xmlns:a="http://schemas.openxmlformats.org/drawingml/2006/main" noGrp="1"/>
          </p:cNvSpPr>
          <p:nvPr/>
        </p:nvSpPr>
        <p:spPr>
          <a:xfrm xmlns:a="http://schemas.openxmlformats.org/drawingml/2006/main">
            <a:off x="403860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F01E74D5-ED5B-4B29-A36D-D68935312BBF}"/>
              </a:ext>
            </a:extLst>
          </p:cNvPr>
          <p:cNvSpPr>
            <a:spLocks xmlns:a="http://schemas.openxmlformats.org/drawingml/2006/main" noGrp="1"/>
          </p:cNvSpPr>
          <p:nvPr/>
        </p:nvSpPr>
        <p:spPr>
          <a:xfrm xmlns:a="http://schemas.openxmlformats.org/drawingml/2006/main">
            <a:off x="4210050" y="203835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C601F68F-5340-4D94-9BD1-845AEA9D943A}"/>
              </a:ext>
            </a:extLst>
          </p:cNvPr>
          <p:cNvSpPr>
            <a:spLocks xmlns:a="http://schemas.openxmlformats.org/drawingml/2006/main" noGrp="1"/>
          </p:cNvSpPr>
          <p:nvPr/>
        </p:nvSpPr>
        <p:spPr>
          <a:xfrm xmlns:a="http://schemas.openxmlformats.org/drawingml/2006/main">
            <a:off x="421005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Post drive</a:t>
            </a:r>
          </a:p>
        </p:txBody>
      </p:sp>
      <p:sp>
        <p:nvSpPr>
          <p:cNvPr id="21" name="">
            <a:extLst xmlns:a="http://schemas.openxmlformats.org/drawingml/2006/main">
              <a:ext uri="{FF2B5EF4-FFF2-40B4-BE49-F238E27FC236}">
                <a16:creationId xmlns:a16="http://schemas.microsoft.com/office/drawing/2014/main" id="{3929167E-7911-4B44-8AA3-DE45DFBBAFFD}"/>
              </a:ext>
            </a:extLst>
          </p:cNvPr>
          <p:cNvSpPr>
            <a:spLocks xmlns:a="http://schemas.openxmlformats.org/drawingml/2006/main" noGrp="1"/>
          </p:cNvSpPr>
          <p:nvPr/>
        </p:nvSpPr>
        <p:spPr>
          <a:xfrm xmlns:a="http://schemas.openxmlformats.org/drawingml/2006/main">
            <a:off x="421005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Recruiter defines role, deadline, branch, CGPA, batch, and backlog limits.</a:t>
            </a:r>
          </a:p>
        </p:txBody>
      </p:sp>
      <p:sp>
        <p:nvSpPr>
          <p:cNvPr id="22" name="">
            <a:extLst xmlns:a="http://schemas.openxmlformats.org/drawingml/2006/main">
              <a:ext uri="{FF2B5EF4-FFF2-40B4-BE49-F238E27FC236}">
                <a16:creationId xmlns:a16="http://schemas.microsoft.com/office/drawing/2014/main" id="{E29BBCB2-F0B5-4BAB-81DF-D594FEABEE2B}"/>
              </a:ext>
            </a:extLst>
          </p:cNvPr>
          <p:cNvSpPr>
            <a:spLocks xmlns:a="http://schemas.openxmlformats.org/drawingml/2006/main" noGrp="1"/>
          </p:cNvSpPr>
          <p:nvPr/>
        </p:nvSpPr>
        <p:spPr>
          <a:xfrm xmlns:a="http://schemas.openxmlformats.org/drawingml/2006/main">
            <a:off x="592455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0FA7B852-0F2E-4F21-B2B5-45A18F41FAA5}"/>
              </a:ext>
            </a:extLst>
          </p:cNvPr>
          <p:cNvSpPr>
            <a:spLocks xmlns:a="http://schemas.openxmlformats.org/drawingml/2006/main" noGrp="1"/>
          </p:cNvSpPr>
          <p:nvPr/>
        </p:nvSpPr>
        <p:spPr>
          <a:xfrm xmlns:a="http://schemas.openxmlformats.org/drawingml/2006/main">
            <a:off x="6096000" y="2038350"/>
            <a:ext cx="400050" cy="400050"/>
          </a:xfrm>
          <a:prstGeom xmlns:a="http://schemas.openxmlformats.org/drawingml/2006/main" prst="ellipse">
            <a:avLst/>
          </a:prstGeom>
          <a:solidFill xmlns:a="http://schemas.openxmlformats.org/drawingml/2006/main">
            <a:srgbClr val="0EA5E9"/>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F49F97D6-E13E-4D83-AEA8-03CA0282FBF8}"/>
              </a:ext>
            </a:extLst>
          </p:cNvPr>
          <p:cNvSpPr>
            <a:spLocks xmlns:a="http://schemas.openxmlformats.org/drawingml/2006/main" noGrp="1"/>
          </p:cNvSpPr>
          <p:nvPr/>
        </p:nvSpPr>
        <p:spPr>
          <a:xfrm xmlns:a="http://schemas.openxmlformats.org/drawingml/2006/main">
            <a:off x="609600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Verify and apply</a:t>
            </a:r>
          </a:p>
        </p:txBody>
      </p:sp>
      <p:sp>
        <p:nvSpPr>
          <p:cNvPr id="25" name="">
            <a:extLst xmlns:a="http://schemas.openxmlformats.org/drawingml/2006/main">
              <a:ext uri="{FF2B5EF4-FFF2-40B4-BE49-F238E27FC236}">
                <a16:creationId xmlns:a16="http://schemas.microsoft.com/office/drawing/2014/main" id="{29D39EE7-7D06-4380-98AA-50A4CCF10494}"/>
              </a:ext>
            </a:extLst>
          </p:cNvPr>
          <p:cNvSpPr>
            <a:spLocks xmlns:a="http://schemas.openxmlformats.org/drawingml/2006/main" noGrp="1"/>
          </p:cNvSpPr>
          <p:nvPr/>
        </p:nvSpPr>
        <p:spPr>
          <a:xfrm xmlns:a="http://schemas.openxmlformats.org/drawingml/2006/main">
            <a:off x="609600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Student profile is checked against policy before the application is saved.</a:t>
            </a:r>
          </a:p>
        </p:txBody>
      </p:sp>
      <p:sp>
        <p:nvSpPr>
          <p:cNvPr id="26" name="">
            <a:extLst xmlns:a="http://schemas.openxmlformats.org/drawingml/2006/main">
              <a:ext uri="{FF2B5EF4-FFF2-40B4-BE49-F238E27FC236}">
                <a16:creationId xmlns:a16="http://schemas.microsoft.com/office/drawing/2014/main" id="{5E2A44EC-BB4C-4B7C-8999-B8596716A575}"/>
              </a:ext>
            </a:extLst>
          </p:cNvPr>
          <p:cNvSpPr>
            <a:spLocks xmlns:a="http://schemas.openxmlformats.org/drawingml/2006/main" noGrp="1"/>
          </p:cNvSpPr>
          <p:nvPr/>
        </p:nvSpPr>
        <p:spPr>
          <a:xfrm xmlns:a="http://schemas.openxmlformats.org/drawingml/2006/main">
            <a:off x="781050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FA5032D6-E999-4CBB-8FDD-01E40A63730E}"/>
              </a:ext>
            </a:extLst>
          </p:cNvPr>
          <p:cNvSpPr>
            <a:spLocks xmlns:a="http://schemas.openxmlformats.org/drawingml/2006/main" noGrp="1"/>
          </p:cNvSpPr>
          <p:nvPr/>
        </p:nvSpPr>
        <p:spPr>
          <a:xfrm xmlns:a="http://schemas.openxmlformats.org/drawingml/2006/main">
            <a:off x="7981950" y="2038350"/>
            <a:ext cx="400050" cy="400050"/>
          </a:xfrm>
          <a:prstGeom xmlns:a="http://schemas.openxmlformats.org/drawingml/2006/main" prst="ellipse">
            <a:avLst/>
          </a:prstGeom>
          <a:solidFill xmlns:a="http://schemas.openxmlformats.org/drawingml/2006/main">
            <a:srgbClr val="6474C8"/>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E86A5EFB-D3A9-4C4F-AF3D-B1D964F777CE}"/>
              </a:ext>
            </a:extLst>
          </p:cNvPr>
          <p:cNvSpPr>
            <a:spLocks xmlns:a="http://schemas.openxmlformats.org/drawingml/2006/main" noGrp="1"/>
          </p:cNvSpPr>
          <p:nvPr/>
        </p:nvSpPr>
        <p:spPr>
          <a:xfrm xmlns:a="http://schemas.openxmlformats.org/drawingml/2006/main">
            <a:off x="798195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Advance pipeline</a:t>
            </a:r>
          </a:p>
        </p:txBody>
      </p:sp>
      <p:sp>
        <p:nvSpPr>
          <p:cNvPr id="29" name="">
            <a:extLst xmlns:a="http://schemas.openxmlformats.org/drawingml/2006/main">
              <a:ext uri="{FF2B5EF4-FFF2-40B4-BE49-F238E27FC236}">
                <a16:creationId xmlns:a16="http://schemas.microsoft.com/office/drawing/2014/main" id="{F8E90CA7-517C-4E36-99A5-3D1FFA5152D0}"/>
              </a:ext>
            </a:extLst>
          </p:cNvPr>
          <p:cNvSpPr>
            <a:spLocks xmlns:a="http://schemas.openxmlformats.org/drawingml/2006/main" noGrp="1"/>
          </p:cNvSpPr>
          <p:nvPr/>
        </p:nvSpPr>
        <p:spPr>
          <a:xfrm xmlns:a="http://schemas.openxmlformats.org/drawingml/2006/main">
            <a:off x="798195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Recruiter or TPO shortlists, schedules interviews, and updates stages.</a:t>
            </a:r>
          </a:p>
        </p:txBody>
      </p:sp>
      <p:sp>
        <p:nvSpPr>
          <p:cNvPr id="30" name="">
            <a:extLst xmlns:a="http://schemas.openxmlformats.org/drawingml/2006/main">
              <a:ext uri="{FF2B5EF4-FFF2-40B4-BE49-F238E27FC236}">
                <a16:creationId xmlns:a16="http://schemas.microsoft.com/office/drawing/2014/main" id="{95DEE2DC-E443-4DA9-9759-CA8EC7F0366D}"/>
              </a:ext>
            </a:extLst>
          </p:cNvPr>
          <p:cNvSpPr>
            <a:spLocks xmlns:a="http://schemas.openxmlformats.org/drawingml/2006/main" noGrp="1"/>
          </p:cNvSpPr>
          <p:nvPr/>
        </p:nvSpPr>
        <p:spPr>
          <a:xfrm xmlns:a="http://schemas.openxmlformats.org/drawingml/2006/main">
            <a:off x="969645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B90121CE-AAE9-40E7-8967-63C4ED1735FF}"/>
              </a:ext>
            </a:extLst>
          </p:cNvPr>
          <p:cNvSpPr>
            <a:spLocks xmlns:a="http://schemas.openxmlformats.org/drawingml/2006/main" noGrp="1"/>
          </p:cNvSpPr>
          <p:nvPr/>
        </p:nvSpPr>
        <p:spPr>
          <a:xfrm xmlns:a="http://schemas.openxmlformats.org/drawingml/2006/main">
            <a:off x="9867900" y="2038350"/>
            <a:ext cx="400050" cy="40005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B4F12E3A-C6C8-42EF-AF66-A8233CE6916D}"/>
              </a:ext>
            </a:extLst>
          </p:cNvPr>
          <p:cNvSpPr>
            <a:spLocks xmlns:a="http://schemas.openxmlformats.org/drawingml/2006/main" noGrp="1"/>
          </p:cNvSpPr>
          <p:nvPr/>
        </p:nvSpPr>
        <p:spPr>
          <a:xfrm xmlns:a="http://schemas.openxmlformats.org/drawingml/2006/main">
            <a:off x="986790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Select and analyze</a:t>
            </a:r>
          </a:p>
        </p:txBody>
      </p:sp>
      <p:sp>
        <p:nvSpPr>
          <p:cNvPr id="33" name="">
            <a:extLst xmlns:a="http://schemas.openxmlformats.org/drawingml/2006/main">
              <a:ext uri="{FF2B5EF4-FFF2-40B4-BE49-F238E27FC236}">
                <a16:creationId xmlns:a16="http://schemas.microsoft.com/office/drawing/2014/main" id="{D143FD25-9E28-4256-9EC4-6F31C4BDDB82}"/>
              </a:ext>
            </a:extLst>
          </p:cNvPr>
          <p:cNvSpPr>
            <a:spLocks xmlns:a="http://schemas.openxmlformats.org/drawingml/2006/main" noGrp="1"/>
          </p:cNvSpPr>
          <p:nvPr/>
        </p:nvSpPr>
        <p:spPr>
          <a:xfrm xmlns:a="http://schemas.openxmlformats.org/drawingml/2006/main">
            <a:off x="986790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Offers update placement status while dashboards show college outcomes.</a:t>
            </a:r>
          </a:p>
        </p:txBody>
      </p:sp>
      <p:cxnSp>
        <p:nvCxnSpPr>
          <p:cNvPr id="74" name=""/>
          <p:cNvCxnSpPr>
            <a:stCxn xmlns:a="http://schemas.openxmlformats.org/drawingml/2006/main" id="18" idx="3"/>
            <a:endCxn xmlns:a="http://schemas.openxmlformats.org/drawingml/2006/main" id="22" idx="1"/>
          </p:cNvCxnSpPr>
          <p:nvPr/>
        </p:nvCxnSpPr>
        <p:spPr>
          <a:xfrm xmlns:a="http://schemas.openxmlformats.org/drawingml/2006/main">
            <a:off x="5619750" y="3086100"/>
            <a:ext cx="304800" cy="0"/>
          </a:xfrm>
          <a:prstGeom xmlns:a="http://schemas.openxmlformats.org/drawingml/2006/main" prst="straightConnector1">
            <a:avLst/>
          </a:prstGeom>
          <a:ln xmlns:a="http://schemas.openxmlformats.org/drawingml/2006/main" w="19050">
            <a:solidFill>
              <a:srgbClr val="9FB3C8"/>
            </a:solidFill>
            <a:prstDash val="solid"/>
            <a:tailEnd type="triangle" w="sm" len="sm"/>
          </a:ln>
        </p:spPr>
      </p:cxnSp>
      <p:cxnSp>
        <p:nvCxnSpPr>
          <p:cNvPr id="75" name=""/>
          <p:cNvCxnSpPr>
            <a:stCxn xmlns:a="http://schemas.openxmlformats.org/drawingml/2006/main" id="22" idx="3"/>
            <a:endCxn xmlns:a="http://schemas.openxmlformats.org/drawingml/2006/main" id="26" idx="1"/>
          </p:cNvCxnSpPr>
          <p:nvPr/>
        </p:nvCxnSpPr>
        <p:spPr>
          <a:xfrm xmlns:a="http://schemas.openxmlformats.org/drawingml/2006/main">
            <a:off x="7505700" y="3086100"/>
            <a:ext cx="304800" cy="0"/>
          </a:xfrm>
          <a:prstGeom xmlns:a="http://schemas.openxmlformats.org/drawingml/2006/main" prst="straightConnector1">
            <a:avLst/>
          </a:prstGeom>
          <a:ln xmlns:a="http://schemas.openxmlformats.org/drawingml/2006/main" w="19050">
            <a:solidFill>
              <a:srgbClr val="9FB3C8"/>
            </a:solidFill>
            <a:prstDash val="solid"/>
            <a:tailEnd type="triangle" w="sm" len="sm"/>
          </a:ln>
        </p:spPr>
      </p:cxnSp>
      <p:cxnSp>
        <p:nvCxnSpPr>
          <p:cNvPr id="76" name=""/>
          <p:cNvCxnSpPr>
            <a:stCxn xmlns:a="http://schemas.openxmlformats.org/drawingml/2006/main" id="26" idx="3"/>
            <a:endCxn xmlns:a="http://schemas.openxmlformats.org/drawingml/2006/main" id="30" idx="1"/>
          </p:cNvCxnSpPr>
          <p:nvPr/>
        </p:nvCxnSpPr>
        <p:spPr>
          <a:xfrm xmlns:a="http://schemas.openxmlformats.org/drawingml/2006/main">
            <a:off x="9391650" y="3086100"/>
            <a:ext cx="304800" cy="0"/>
          </a:xfrm>
          <a:prstGeom xmlns:a="http://schemas.openxmlformats.org/drawingml/2006/main" prst="straightConnector1">
            <a:avLst/>
          </a:prstGeom>
          <a:ln xmlns:a="http://schemas.openxmlformats.org/drawingml/2006/main" w="19050">
            <a:solidFill>
              <a:srgbClr val="9FB3C8"/>
            </a:solidFill>
            <a:prstDash val="solid"/>
            <a:tailEnd type="triangle" w="sm" len="sm"/>
          </a:ln>
        </p:spPr>
      </p:cxnSp>
      <p:sp>
        <p:nvSpPr>
          <p:cNvPr id="37" name="">
            <a:extLst xmlns:a="http://schemas.openxmlformats.org/drawingml/2006/main">
              <a:ext uri="{FF2B5EF4-FFF2-40B4-BE49-F238E27FC236}">
                <a16:creationId xmlns:a16="http://schemas.microsoft.com/office/drawing/2014/main" id="{460862B9-2B96-44D1-8F80-085F89598902}"/>
              </a:ext>
            </a:extLst>
          </p:cNvPr>
          <p:cNvSpPr>
            <a:spLocks xmlns:a="http://schemas.openxmlformats.org/drawingml/2006/main" noGrp="1"/>
          </p:cNvSpPr>
          <p:nvPr/>
        </p:nvSpPr>
        <p:spPr>
          <a:xfrm xmlns:a="http://schemas.openxmlformats.org/drawingml/2006/main">
            <a:off x="4057650" y="4686300"/>
            <a:ext cx="720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0EA5E9"/>
                </a:solidFill>
                <a:latin typeface="Helvetica Neue"/>
                <a:ea typeface="Helvetica Neue"/>
                <a:cs typeface="Helvetica Neue"/>
              </a:defRPr>
            </a:pPr>
            <a:r>
              <a:rPr sz="1125" b="1">
                <a:solidFill>
                  <a:srgbClr val="0EA5E9"/>
                </a:solidFill>
                <a:latin typeface="Helvetica Neue"/>
                <a:ea typeface="Helvetica Neue"/>
                <a:cs typeface="Helvetica Neue"/>
              </a:rPr>
              <a:t>Unified audit trail</a:t>
            </a:r>
          </a:p>
        </p:txBody>
      </p:sp>
      <p:sp>
        <p:nvSpPr>
          <p:cNvPr id="38" name="">
            <a:extLst xmlns:a="http://schemas.openxmlformats.org/drawingml/2006/main">
              <a:ext uri="{FF2B5EF4-FFF2-40B4-BE49-F238E27FC236}">
                <a16:creationId xmlns:a16="http://schemas.microsoft.com/office/drawing/2014/main" id="{729CF19C-9606-4218-881C-CCF27E295826}"/>
              </a:ext>
            </a:extLst>
          </p:cNvPr>
          <p:cNvSpPr>
            <a:spLocks xmlns:a="http://schemas.openxmlformats.org/drawingml/2006/main" noGrp="1"/>
          </p:cNvSpPr>
          <p:nvPr/>
        </p:nvSpPr>
        <p:spPr>
          <a:xfrm xmlns:a="http://schemas.openxmlformats.org/drawingml/2006/main">
            <a:off x="4343400" y="5010150"/>
            <a:ext cx="664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Every application stage remains visible to the right users through role-based access and timestamped status history.</a:t>
            </a:r>
          </a:p>
        </p:txBody>
      </p:sp>
      <p:sp>
        <p:nvSpPr>
          <p:cNvPr id="39" name="">
            <a:extLst xmlns:a="http://schemas.openxmlformats.org/drawingml/2006/main">
              <a:ext uri="{FF2B5EF4-FFF2-40B4-BE49-F238E27FC236}">
                <a16:creationId xmlns:a16="http://schemas.microsoft.com/office/drawing/2014/main" id="{1E219300-0F6E-40E2-8C7A-33C16B03CE81}"/>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40" name="">
            <a:extLst xmlns:a="http://schemas.openxmlformats.org/drawingml/2006/main">
              <a:ext uri="{FF2B5EF4-FFF2-40B4-BE49-F238E27FC236}">
                <a16:creationId xmlns:a16="http://schemas.microsoft.com/office/drawing/2014/main" id="{FA8AF3D6-3F00-49FC-B374-816A089EF2E3}"/>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1998811286"/>
      </p:ext>
    </p:extLst>
  </p:cSld>
</p:sld>
</file>

<file path=ppt/slides/slide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9FD2A8E-D48F-4F60-BE58-8CC92480CEDA}"/>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E6C109CB-FC24-47CB-AEAD-E0777583CD54}"/>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Key features and innovations</a:t>
            </a:r>
          </a:p>
        </p:txBody>
      </p:sp>
      <p:sp>
        <p:nvSpPr>
          <p:cNvPr id="3" name="">
            <a:extLst xmlns:a="http://schemas.openxmlformats.org/drawingml/2006/main">
              <a:ext uri="{FF2B5EF4-FFF2-40B4-BE49-F238E27FC236}">
                <a16:creationId xmlns:a16="http://schemas.microsoft.com/office/drawing/2014/main" id="{594DD436-C020-49E4-BB75-0392136CE6D8}"/>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Policy enforcement and automation reduce repetitive decisions at every stage</a:t>
            </a:r>
          </a:p>
        </p:txBody>
      </p:sp>
      <p:sp>
        <p:nvSpPr>
          <p:cNvPr id="4" name="">
            <a:extLst xmlns:a="http://schemas.openxmlformats.org/drawingml/2006/main">
              <a:ext uri="{FF2B5EF4-FFF2-40B4-BE49-F238E27FC236}">
                <a16:creationId xmlns:a16="http://schemas.microsoft.com/office/drawing/2014/main" id="{1A8B5AB8-3AD5-46DC-9CC8-343EC6725F1C}"/>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2488a140dc54fb2">
            <a:extLst>
              <a:ext uri="{96DAC541-7B7A-43D3-8B79-37D633B846F1}">
                <asvg:svgBlip xmlns:asvg="http://schemas.microsoft.com/office/drawing/2016/SVG/main" r:embed="R53037a77cb7d4fc8"/>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2CF71C2-E2CB-469D-9FE5-19738BC51EF8}"/>
              </a:ext>
            </a:extLst>
          </p:cNvPr>
          <p:cNvSpPr>
            <a:spLocks xmlns:a="http://schemas.openxmlformats.org/drawingml/2006/main" noGrp="1"/>
          </p:cNvSpPr>
          <p:nvPr/>
        </p:nvSpPr>
        <p:spPr>
          <a:xfrm xmlns:a="http://schemas.openxmlformats.org/drawingml/2006/main">
            <a:off x="4819650" y="2457450"/>
            <a:ext cx="2571750" cy="1695450"/>
          </a:xfrm>
          <a:prstGeom xmlns:a="http://schemas.openxmlformats.org/drawingml/2006/main" prst="ellipse">
            <a:avLst/>
          </a:prstGeom>
          <a:solidFill xmlns:a="http://schemas.openxmlformats.org/drawingml/2006/main">
            <a:srgbClr val="0B1F3A"/>
          </a:solidFill>
          <a:ln xmlns:a="http://schemas.openxmlformats.org/drawingml/2006/main" w="28575">
            <a:solidFill>
              <a:srgbClr val="38BDF8"/>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6B400B16-8928-4E1A-B233-563B376B1568}"/>
              </a:ext>
            </a:extLst>
          </p:cNvPr>
          <p:cNvSpPr>
            <a:spLocks xmlns:a="http://schemas.openxmlformats.org/drawingml/2006/main" noGrp="1"/>
          </p:cNvSpPr>
          <p:nvPr/>
        </p:nvSpPr>
        <p:spPr>
          <a:xfrm xmlns:a="http://schemas.openxmlformats.org/drawingml/2006/main">
            <a:off x="5105400" y="2781300"/>
            <a:ext cx="2000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POLICY +</a:t>
            </a:r>
          </a:p>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AUTOMATION</a:t>
            </a:r>
          </a:p>
        </p:txBody>
      </p:sp>
      <p:sp>
        <p:nvSpPr>
          <p:cNvPr id="8" name="">
            <a:extLst xmlns:a="http://schemas.openxmlformats.org/drawingml/2006/main">
              <a:ext uri="{FF2B5EF4-FFF2-40B4-BE49-F238E27FC236}">
                <a16:creationId xmlns:a16="http://schemas.microsoft.com/office/drawing/2014/main" id="{8312715F-215A-4911-A316-6A08555F5C7B}"/>
              </a:ext>
            </a:extLst>
          </p:cNvPr>
          <p:cNvSpPr>
            <a:spLocks xmlns:a="http://schemas.openxmlformats.org/drawingml/2006/main" noGrp="1"/>
          </p:cNvSpPr>
          <p:nvPr/>
        </p:nvSpPr>
        <p:spPr>
          <a:xfrm xmlns:a="http://schemas.openxmlformats.org/drawingml/2006/main">
            <a:off x="5257800" y="3590925"/>
            <a:ext cx="1695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BFE8FA"/>
                </a:solidFill>
                <a:latin typeface="Helvetica Neue"/>
                <a:ea typeface="Helvetica Neue"/>
                <a:cs typeface="Helvetica Neue"/>
              </a:defRPr>
            </a:pPr>
            <a:r>
              <a:rPr sz="1125" b="0">
                <a:solidFill>
                  <a:srgbClr val="BFE8FA"/>
                </a:solidFill>
                <a:latin typeface="Helvetica Neue"/>
                <a:ea typeface="Helvetica Neue"/>
                <a:cs typeface="Helvetica Neue"/>
              </a:rPr>
              <a:t>Shared server-side rules</a:t>
            </a:r>
          </a:p>
        </p:txBody>
      </p:sp>
      <p:sp>
        <p:nvSpPr>
          <p:cNvPr id="9" name="">
            <a:extLst xmlns:a="http://schemas.openxmlformats.org/drawingml/2006/main">
              <a:ext uri="{FF2B5EF4-FFF2-40B4-BE49-F238E27FC236}">
                <a16:creationId xmlns:a16="http://schemas.microsoft.com/office/drawing/2014/main" id="{2F1ABF86-F4E9-4DCF-A0AE-DB0E1DCD9CD1}"/>
              </a:ext>
            </a:extLst>
          </p:cNvPr>
          <p:cNvSpPr>
            <a:spLocks xmlns:a="http://schemas.openxmlformats.org/drawingml/2006/main" noGrp="1"/>
          </p:cNvSpPr>
          <p:nvPr/>
        </p:nvSpPr>
        <p:spPr>
          <a:xfrm xmlns:a="http://schemas.openxmlformats.org/drawingml/2006/main">
            <a:off x="609600" y="16764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E11A176-4811-483B-9D52-8993A22EA22C}"/>
              </a:ext>
            </a:extLst>
          </p:cNvPr>
          <p:cNvSpPr>
            <a:spLocks xmlns:a="http://schemas.openxmlformats.org/drawingml/2006/main" noGrp="1"/>
          </p:cNvSpPr>
          <p:nvPr/>
        </p:nvSpPr>
        <p:spPr>
          <a:xfrm xmlns:a="http://schemas.openxmlformats.org/drawingml/2006/main">
            <a:off x="781050" y="1847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EA5E9"/>
                </a:solidFill>
                <a:latin typeface="Helvetica Neue"/>
                <a:ea typeface="Helvetica Neue"/>
                <a:cs typeface="Helvetica Neue"/>
              </a:defRPr>
            </a:pPr>
            <a:r>
              <a:rPr sz="1200" b="1">
                <a:solidFill>
                  <a:srgbClr val="0EA5E9"/>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9D0296D7-8FA0-4AD1-BCB8-3977EDDEF8BB}"/>
              </a:ext>
            </a:extLst>
          </p:cNvPr>
          <p:cNvSpPr>
            <a:spLocks xmlns:a="http://schemas.openxmlformats.org/drawingml/2006/main" noGrp="1"/>
          </p:cNvSpPr>
          <p:nvPr/>
        </p:nvSpPr>
        <p:spPr>
          <a:xfrm xmlns:a="http://schemas.openxmlformats.org/drawingml/2006/main">
            <a:off x="1333500" y="18288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011"/>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Automated eligibility engine</a:t>
            </a:r>
          </a:p>
        </p:txBody>
      </p:sp>
      <p:sp>
        <p:nvSpPr>
          <p:cNvPr id="12" name="">
            <a:extLst xmlns:a="http://schemas.openxmlformats.org/drawingml/2006/main">
              <a:ext uri="{FF2B5EF4-FFF2-40B4-BE49-F238E27FC236}">
                <a16:creationId xmlns:a16="http://schemas.microsoft.com/office/drawing/2014/main" id="{3C931E2D-4DA9-4422-8F26-855D33817A2D}"/>
              </a:ext>
            </a:extLst>
          </p:cNvPr>
          <p:cNvSpPr>
            <a:spLocks xmlns:a="http://schemas.openxmlformats.org/drawingml/2006/main" noGrp="1"/>
          </p:cNvSpPr>
          <p:nvPr/>
        </p:nvSpPr>
        <p:spPr>
          <a:xfrm xmlns:a="http://schemas.openxmlformats.org/drawingml/2006/main">
            <a:off x="800100" y="23622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Validates drive status, deadline, CGPA, branch, batch, and active backlogs before submission.</a:t>
            </a:r>
          </a:p>
        </p:txBody>
      </p:sp>
      <p:sp>
        <p:nvSpPr>
          <p:cNvPr id="13" name="">
            <a:extLst xmlns:a="http://schemas.openxmlformats.org/drawingml/2006/main">
              <a:ext uri="{FF2B5EF4-FFF2-40B4-BE49-F238E27FC236}">
                <a16:creationId xmlns:a16="http://schemas.microsoft.com/office/drawing/2014/main" id="{5A63CF02-07DA-43C9-98FE-C9468328C1B7}"/>
              </a:ext>
            </a:extLst>
          </p:cNvPr>
          <p:cNvSpPr>
            <a:spLocks xmlns:a="http://schemas.openxmlformats.org/drawingml/2006/main" noGrp="1"/>
          </p:cNvSpPr>
          <p:nvPr/>
        </p:nvSpPr>
        <p:spPr>
          <a:xfrm xmlns:a="http://schemas.openxmlformats.org/drawingml/2006/main">
            <a:off x="8105775" y="16764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64D890CC-10C7-461D-AA71-3090BD6B7FA4}"/>
              </a:ext>
            </a:extLst>
          </p:cNvPr>
          <p:cNvSpPr>
            <a:spLocks xmlns:a="http://schemas.openxmlformats.org/drawingml/2006/main" noGrp="1"/>
          </p:cNvSpPr>
          <p:nvPr/>
        </p:nvSpPr>
        <p:spPr>
          <a:xfrm xmlns:a="http://schemas.openxmlformats.org/drawingml/2006/main">
            <a:off x="8277225" y="1847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5B942"/>
                </a:solidFill>
                <a:latin typeface="Helvetica Neue"/>
                <a:ea typeface="Helvetica Neue"/>
                <a:cs typeface="Helvetica Neue"/>
              </a:defRPr>
            </a:pPr>
            <a:r>
              <a:rPr sz="1200" b="1">
                <a:solidFill>
                  <a:srgbClr val="F5B942"/>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34E0156D-5FBA-496D-ADAE-6DBF9F56EF55}"/>
              </a:ext>
            </a:extLst>
          </p:cNvPr>
          <p:cNvSpPr>
            <a:spLocks xmlns:a="http://schemas.openxmlformats.org/drawingml/2006/main" noGrp="1"/>
          </p:cNvSpPr>
          <p:nvPr/>
        </p:nvSpPr>
        <p:spPr>
          <a:xfrm xmlns:a="http://schemas.openxmlformats.org/drawingml/2006/main">
            <a:off x="8829675" y="18288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029"/>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Fair 1-offer placement policy</a:t>
            </a:r>
          </a:p>
        </p:txBody>
      </p:sp>
      <p:sp>
        <p:nvSpPr>
          <p:cNvPr id="16" name="">
            <a:extLst xmlns:a="http://schemas.openxmlformats.org/drawingml/2006/main">
              <a:ext uri="{FF2B5EF4-FFF2-40B4-BE49-F238E27FC236}">
                <a16:creationId xmlns:a16="http://schemas.microsoft.com/office/drawing/2014/main" id="{6B93356E-6DF4-4A95-832B-67BB51B3696F}"/>
              </a:ext>
            </a:extLst>
          </p:cNvPr>
          <p:cNvSpPr>
            <a:spLocks xmlns:a="http://schemas.openxmlformats.org/drawingml/2006/main" noGrp="1"/>
          </p:cNvSpPr>
          <p:nvPr/>
        </p:nvSpPr>
        <p:spPr>
          <a:xfrm xmlns:a="http://schemas.openxmlformats.org/drawingml/2006/main">
            <a:off x="8296275" y="23622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A selected student cannot apply to another placement drive, while internships remain available.</a:t>
            </a:r>
          </a:p>
        </p:txBody>
      </p:sp>
      <p:sp>
        <p:nvSpPr>
          <p:cNvPr id="17" name="">
            <a:extLst xmlns:a="http://schemas.openxmlformats.org/drawingml/2006/main">
              <a:ext uri="{FF2B5EF4-FFF2-40B4-BE49-F238E27FC236}">
                <a16:creationId xmlns:a16="http://schemas.microsoft.com/office/drawing/2014/main" id="{B7B93002-5DA2-47B0-9A22-D7FCA60E1B35}"/>
              </a:ext>
            </a:extLst>
          </p:cNvPr>
          <p:cNvSpPr>
            <a:spLocks xmlns:a="http://schemas.openxmlformats.org/drawingml/2006/main" noGrp="1"/>
          </p:cNvSpPr>
          <p:nvPr/>
        </p:nvSpPr>
        <p:spPr>
          <a:xfrm xmlns:a="http://schemas.openxmlformats.org/drawingml/2006/main">
            <a:off x="609600" y="41529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E23C5672-98D7-4FE7-9384-7E473833DE11}"/>
              </a:ext>
            </a:extLst>
          </p:cNvPr>
          <p:cNvSpPr>
            <a:spLocks xmlns:a="http://schemas.openxmlformats.org/drawingml/2006/main" noGrp="1"/>
          </p:cNvSpPr>
          <p:nvPr/>
        </p:nvSpPr>
        <p:spPr>
          <a:xfrm xmlns:a="http://schemas.openxmlformats.org/drawingml/2006/main">
            <a:off x="781050" y="43243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474C8"/>
                </a:solidFill>
                <a:latin typeface="Helvetica Neue"/>
                <a:ea typeface="Helvetica Neue"/>
                <a:cs typeface="Helvetica Neue"/>
              </a:defRPr>
            </a:pPr>
            <a:r>
              <a:rPr sz="1200" b="1">
                <a:solidFill>
                  <a:srgbClr val="6474C8"/>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A3AD14D7-08B0-43CC-9423-830AEC26D309}"/>
              </a:ext>
            </a:extLst>
          </p:cNvPr>
          <p:cNvSpPr>
            <a:spLocks xmlns:a="http://schemas.openxmlformats.org/drawingml/2006/main" noGrp="1"/>
          </p:cNvSpPr>
          <p:nvPr/>
        </p:nvSpPr>
        <p:spPr>
          <a:xfrm xmlns:a="http://schemas.openxmlformats.org/drawingml/2006/main">
            <a:off x="1333500" y="43053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One-click auto-shortlist</a:t>
            </a:r>
          </a:p>
        </p:txBody>
      </p:sp>
      <p:sp>
        <p:nvSpPr>
          <p:cNvPr id="20" name="">
            <a:extLst xmlns:a="http://schemas.openxmlformats.org/drawingml/2006/main">
              <a:ext uri="{FF2B5EF4-FFF2-40B4-BE49-F238E27FC236}">
                <a16:creationId xmlns:a16="http://schemas.microsoft.com/office/drawing/2014/main" id="{90AD9F4B-EF74-48ED-A120-A3F1A084CAAB}"/>
              </a:ext>
            </a:extLst>
          </p:cNvPr>
          <p:cNvSpPr>
            <a:spLocks xmlns:a="http://schemas.openxmlformats.org/drawingml/2006/main" noGrp="1"/>
          </p:cNvSpPr>
          <p:nvPr/>
        </p:nvSpPr>
        <p:spPr>
          <a:xfrm xmlns:a="http://schemas.openxmlformats.org/drawingml/2006/main">
            <a:off x="800100" y="48387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Eligible applicants in the Applied stage advance to Shortlisted through one controlled action.</a:t>
            </a:r>
          </a:p>
        </p:txBody>
      </p:sp>
      <p:sp>
        <p:nvSpPr>
          <p:cNvPr id="21" name="">
            <a:extLst xmlns:a="http://schemas.openxmlformats.org/drawingml/2006/main">
              <a:ext uri="{FF2B5EF4-FFF2-40B4-BE49-F238E27FC236}">
                <a16:creationId xmlns:a16="http://schemas.microsoft.com/office/drawing/2014/main" id="{2283FC8A-5B2F-4CD0-B3EF-6B98B2A4A8CA}"/>
              </a:ext>
            </a:extLst>
          </p:cNvPr>
          <p:cNvSpPr>
            <a:spLocks xmlns:a="http://schemas.openxmlformats.org/drawingml/2006/main" noGrp="1"/>
          </p:cNvSpPr>
          <p:nvPr/>
        </p:nvSpPr>
        <p:spPr>
          <a:xfrm xmlns:a="http://schemas.openxmlformats.org/drawingml/2006/main">
            <a:off x="8105775" y="41529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3E621CD8-42AC-4922-A652-F124A975F88D}"/>
              </a:ext>
            </a:extLst>
          </p:cNvPr>
          <p:cNvSpPr>
            <a:spLocks xmlns:a="http://schemas.openxmlformats.org/drawingml/2006/main" noGrp="1"/>
          </p:cNvSpPr>
          <p:nvPr/>
        </p:nvSpPr>
        <p:spPr>
          <a:xfrm xmlns:a="http://schemas.openxmlformats.org/drawingml/2006/main">
            <a:off x="8277225" y="43243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B981"/>
                </a:solidFill>
                <a:latin typeface="Helvetica Neue"/>
                <a:ea typeface="Helvetica Neue"/>
                <a:cs typeface="Helvetica Neue"/>
              </a:defRPr>
            </a:pPr>
            <a:r>
              <a:rPr sz="1200" b="1">
                <a:solidFill>
                  <a:srgbClr val="10B981"/>
                </a:solidFill>
                <a:latin typeface="Helvetica Neue"/>
                <a:ea typeface="Helvetica Neue"/>
                <a:cs typeface="Helvetica Neue"/>
              </a:rPr>
              <a:t>04</a:t>
            </a:r>
          </a:p>
        </p:txBody>
      </p:sp>
      <p:sp>
        <p:nvSpPr>
          <p:cNvPr id="23" name="">
            <a:extLst xmlns:a="http://schemas.openxmlformats.org/drawingml/2006/main">
              <a:ext uri="{FF2B5EF4-FFF2-40B4-BE49-F238E27FC236}">
                <a16:creationId xmlns:a16="http://schemas.microsoft.com/office/drawing/2014/main" id="{AB664BEE-518F-4963-85A2-1C7464D44D9F}"/>
              </a:ext>
            </a:extLst>
          </p:cNvPr>
          <p:cNvSpPr>
            <a:spLocks xmlns:a="http://schemas.openxmlformats.org/drawingml/2006/main" noGrp="1"/>
          </p:cNvSpPr>
          <p:nvPr/>
        </p:nvSpPr>
        <p:spPr>
          <a:xfrm xmlns:a="http://schemas.openxmlformats.org/drawingml/2006/main">
            <a:off x="8829675" y="43053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5702"/>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Real-time application tracking</a:t>
            </a:r>
          </a:p>
        </p:txBody>
      </p:sp>
      <p:sp>
        <p:nvSpPr>
          <p:cNvPr id="24" name="">
            <a:extLst xmlns:a="http://schemas.openxmlformats.org/drawingml/2006/main">
              <a:ext uri="{FF2B5EF4-FFF2-40B4-BE49-F238E27FC236}">
                <a16:creationId xmlns:a16="http://schemas.microsoft.com/office/drawing/2014/main" id="{0BE19A8D-D542-4014-A242-65A1C9E1457C}"/>
              </a:ext>
            </a:extLst>
          </p:cNvPr>
          <p:cNvSpPr>
            <a:spLocks xmlns:a="http://schemas.openxmlformats.org/drawingml/2006/main" noGrp="1"/>
          </p:cNvSpPr>
          <p:nvPr/>
        </p:nvSpPr>
        <p:spPr>
          <a:xfrm xmlns:a="http://schemas.openxmlformats.org/drawingml/2006/main">
            <a:off x="8296275" y="48387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Students follow Applied, Shortlisted, Interviewed, Selected, or Rejected with status history.</a:t>
            </a:r>
          </a:p>
        </p:txBody>
      </p:sp>
      <p:cxnSp>
        <p:nvCxnSpPr>
          <p:cNvPr id="55" name=""/>
          <p:cNvCxnSpPr>
            <a:stCxn xmlns:a="http://schemas.openxmlformats.org/drawingml/2006/main" id="9" idx="3"/>
            <a:endCxn xmlns:a="http://schemas.openxmlformats.org/drawingml/2006/main" id="6" idx="2"/>
          </p:cNvCxnSpPr>
          <p:nvPr/>
        </p:nvCxnSpPr>
        <p:spPr>
          <a:xfrm xmlns:a="http://schemas.openxmlformats.org/drawingml/2006/main">
            <a:off x="4086225" y="2409825"/>
            <a:ext cx="733425" cy="895350"/>
          </a:xfrm>
          <a:prstGeom xmlns:a="http://schemas.openxmlformats.org/drawingml/2006/main" prst="straightConnector1">
            <a:avLst/>
          </a:prstGeom>
          <a:ln xmlns:a="http://schemas.openxmlformats.org/drawingml/2006/main" w="19050">
            <a:solidFill>
              <a:srgbClr val="AFC6D8"/>
            </a:solidFill>
            <a:prstDash val="solid"/>
          </a:ln>
        </p:spPr>
      </p:cxnSp>
      <p:cxnSp>
        <p:nvCxnSpPr>
          <p:cNvPr id="56" name=""/>
          <p:cNvCxnSpPr>
            <a:stCxn xmlns:a="http://schemas.openxmlformats.org/drawingml/2006/main" id="13" idx="1"/>
            <a:endCxn xmlns:a="http://schemas.openxmlformats.org/drawingml/2006/main" id="6" idx="6"/>
          </p:cNvCxnSpPr>
          <p:nvPr/>
        </p:nvCxnSpPr>
        <p:spPr>
          <a:xfrm xmlns:a="http://schemas.openxmlformats.org/drawingml/2006/main" flipH="1">
            <a:off x="7391400" y="2409825"/>
            <a:ext cx="714375" cy="895350"/>
          </a:xfrm>
          <a:prstGeom xmlns:a="http://schemas.openxmlformats.org/drawingml/2006/main" prst="straightConnector1">
            <a:avLst/>
          </a:prstGeom>
          <a:ln xmlns:a="http://schemas.openxmlformats.org/drawingml/2006/main" w="19050">
            <a:solidFill>
              <a:srgbClr val="AFC6D8"/>
            </a:solidFill>
            <a:prstDash val="solid"/>
          </a:ln>
        </p:spPr>
      </p:cxnSp>
      <p:cxnSp>
        <p:nvCxnSpPr>
          <p:cNvPr id="57" name=""/>
          <p:cNvCxnSpPr>
            <a:stCxn xmlns:a="http://schemas.openxmlformats.org/drawingml/2006/main" id="17" idx="3"/>
            <a:endCxn xmlns:a="http://schemas.openxmlformats.org/drawingml/2006/main" id="6" idx="2"/>
          </p:cNvCxnSpPr>
          <p:nvPr/>
        </p:nvCxnSpPr>
        <p:spPr>
          <a:xfrm xmlns:a="http://schemas.openxmlformats.org/drawingml/2006/main" flipV="1">
            <a:off x="4086225" y="3305175"/>
            <a:ext cx="733425" cy="1581150"/>
          </a:xfrm>
          <a:prstGeom xmlns:a="http://schemas.openxmlformats.org/drawingml/2006/main" prst="straightConnector1">
            <a:avLst/>
          </a:prstGeom>
          <a:ln xmlns:a="http://schemas.openxmlformats.org/drawingml/2006/main" w="19050">
            <a:solidFill>
              <a:srgbClr val="AFC6D8"/>
            </a:solidFill>
            <a:prstDash val="solid"/>
          </a:ln>
        </p:spPr>
      </p:cxnSp>
      <p:cxnSp>
        <p:nvCxnSpPr>
          <p:cNvPr id="58" name=""/>
          <p:cNvCxnSpPr>
            <a:stCxn xmlns:a="http://schemas.openxmlformats.org/drawingml/2006/main" id="21" idx="1"/>
            <a:endCxn xmlns:a="http://schemas.openxmlformats.org/drawingml/2006/main" id="6" idx="6"/>
          </p:cNvCxnSpPr>
          <p:nvPr/>
        </p:nvCxnSpPr>
        <p:spPr>
          <a:xfrm xmlns:a="http://schemas.openxmlformats.org/drawingml/2006/main" flipH="1" flipV="1">
            <a:off x="7391400" y="3305175"/>
            <a:ext cx="714375" cy="1581150"/>
          </a:xfrm>
          <a:prstGeom xmlns:a="http://schemas.openxmlformats.org/drawingml/2006/main" prst="straightConnector1">
            <a:avLst/>
          </a:prstGeom>
          <a:ln xmlns:a="http://schemas.openxmlformats.org/drawingml/2006/main" w="19050">
            <a:solidFill>
              <a:srgbClr val="AFC6D8"/>
            </a:solidFill>
            <a:prstDash val="solid"/>
          </a:ln>
        </p:spPr>
      </p:cxnSp>
      <p:sp>
        <p:nvSpPr>
          <p:cNvPr id="29" name="">
            <a:extLst xmlns:a="http://schemas.openxmlformats.org/drawingml/2006/main">
              <a:ext uri="{FF2B5EF4-FFF2-40B4-BE49-F238E27FC236}">
                <a16:creationId xmlns:a16="http://schemas.microsoft.com/office/drawing/2014/main" id="{D13C3394-1E19-48F7-88A7-F3743CBE123D}"/>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30" name="">
            <a:extLst xmlns:a="http://schemas.openxmlformats.org/drawingml/2006/main">
              <a:ext uri="{FF2B5EF4-FFF2-40B4-BE49-F238E27FC236}">
                <a16:creationId xmlns:a16="http://schemas.microsoft.com/office/drawing/2014/main" id="{A463FCFF-A93C-4A9E-A5BB-84148A6D940D}"/>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1884081612"/>
      </p:ext>
    </p:extLst>
  </p:cSld>
</p:sld>
</file>

<file path=ppt/slides/slide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E8A879C-35A5-4435-95F9-E01539954D32}"/>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08FB1FDE-8C22-41A9-9CFB-5F239823D997}"/>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System architecture and technology stack</a:t>
            </a:r>
          </a:p>
        </p:txBody>
      </p:sp>
      <p:sp>
        <p:nvSpPr>
          <p:cNvPr id="3" name="">
            <a:extLst xmlns:a="http://schemas.openxmlformats.org/drawingml/2006/main">
              <a:ext uri="{FF2B5EF4-FFF2-40B4-BE49-F238E27FC236}">
                <a16:creationId xmlns:a16="http://schemas.microsoft.com/office/drawing/2014/main" id="{DC9E6ECE-C134-435F-A33D-F507467E67D0}"/>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An MVC web application deployed on Vercel with MongoDB Atlas</a:t>
            </a:r>
          </a:p>
        </p:txBody>
      </p:sp>
      <p:sp>
        <p:nvSpPr>
          <p:cNvPr id="4" name="">
            <a:extLst xmlns:a="http://schemas.openxmlformats.org/drawingml/2006/main">
              <a:ext uri="{FF2B5EF4-FFF2-40B4-BE49-F238E27FC236}">
                <a16:creationId xmlns:a16="http://schemas.microsoft.com/office/drawing/2014/main" id="{75F55DF1-E2B4-498F-9CF6-4BB97316DF28}"/>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67c1fb651a7242fb">
            <a:extLst>
              <a:ext uri="{96DAC541-7B7A-43D3-8B79-37D633B846F1}">
                <asvg:svgBlip xmlns:asvg="http://schemas.microsoft.com/office/drawing/2016/SVG/main" r:embed="R105ceea2640c44d3"/>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DD9DC5-28D1-4159-B25A-326BD1D58432}"/>
              </a:ext>
            </a:extLst>
          </p:cNvPr>
          <p:cNvSpPr>
            <a:spLocks xmlns:a="http://schemas.openxmlformats.org/drawingml/2006/main" noGrp="1"/>
          </p:cNvSpPr>
          <p:nvPr/>
        </p:nvSpPr>
        <p:spPr>
          <a:xfrm xmlns:a="http://schemas.openxmlformats.org/drawingml/2006/main">
            <a:off x="609600" y="1914525"/>
            <a:ext cx="2333625" cy="2667000"/>
          </a:xfrm>
          <a:prstGeom xmlns:a="http://schemas.openxmlformats.org/drawingml/2006/main" prst="roundRect">
            <a:avLst>
              <a:gd name="adj" fmla="val 6531"/>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4796D77A-BCC3-4B72-9757-614AD2BCAB4E}"/>
              </a:ext>
            </a:extLst>
          </p:cNvPr>
          <p:cNvSpPr>
            <a:spLocks xmlns:a="http://schemas.openxmlformats.org/drawingml/2006/main" noGrp="1"/>
          </p:cNvSpPr>
          <p:nvPr/>
        </p:nvSpPr>
        <p:spPr>
          <a:xfrm xmlns:a="http://schemas.openxmlformats.org/drawingml/2006/main">
            <a:off x="838200" y="211455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EA5E9"/>
                </a:solidFill>
                <a:latin typeface="Helvetica Neue"/>
                <a:ea typeface="Helvetica Neue"/>
                <a:cs typeface="Helvetica Neue"/>
              </a:defRPr>
            </a:pPr>
            <a:r>
              <a:rPr sz="1050" b="1">
                <a:solidFill>
                  <a:srgbClr val="0EA5E9"/>
                </a:solidFill>
                <a:latin typeface="Helvetica Neue"/>
                <a:ea typeface="Helvetica Neue"/>
                <a:cs typeface="Helvetica Neue"/>
              </a:rPr>
              <a:t>CLIENT</a:t>
            </a:r>
          </a:p>
        </p:txBody>
      </p:sp>
      <p:sp>
        <p:nvSpPr>
          <p:cNvPr id="8" name="">
            <a:extLst xmlns:a="http://schemas.openxmlformats.org/drawingml/2006/main">
              <a:ext uri="{FF2B5EF4-FFF2-40B4-BE49-F238E27FC236}">
                <a16:creationId xmlns:a16="http://schemas.microsoft.com/office/drawing/2014/main" id="{EEAEE43C-9B6F-4AF0-8D29-7FB73A4AE603}"/>
              </a:ext>
            </a:extLst>
          </p:cNvPr>
          <p:cNvSpPr>
            <a:spLocks xmlns:a="http://schemas.openxmlformats.org/drawingml/2006/main" noGrp="1"/>
          </p:cNvSpPr>
          <p:nvPr/>
        </p:nvSpPr>
        <p:spPr>
          <a:xfrm xmlns:a="http://schemas.openxmlformats.org/drawingml/2006/main">
            <a:off x="838200" y="253365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0B1F3A"/>
                </a:solidFill>
                <a:latin typeface="Helvetica Neue"/>
                <a:ea typeface="Helvetica Neue"/>
                <a:cs typeface="Helvetica Neue"/>
              </a:defRPr>
            </a:pPr>
            <a:r>
              <a:rPr sz="2100" b="1">
                <a:solidFill>
                  <a:srgbClr val="0B1F3A"/>
                </a:solidFill>
                <a:latin typeface="Helvetica Neue"/>
                <a:ea typeface="Helvetica Neue"/>
                <a:cs typeface="Helvetica Neue"/>
              </a:rPr>
              <a:t>Browser views</a:t>
            </a:r>
          </a:p>
        </p:txBody>
      </p:sp>
      <p:sp>
        <p:nvSpPr>
          <p:cNvPr id="9" name="">
            <a:extLst xmlns:a="http://schemas.openxmlformats.org/drawingml/2006/main">
              <a:ext uri="{FF2B5EF4-FFF2-40B4-BE49-F238E27FC236}">
                <a16:creationId xmlns:a16="http://schemas.microsoft.com/office/drawing/2014/main" id="{AA8F1F93-7351-4BA4-8644-B800ACF51520}"/>
              </a:ext>
            </a:extLst>
          </p:cNvPr>
          <p:cNvSpPr>
            <a:spLocks xmlns:a="http://schemas.openxmlformats.org/drawingml/2006/main" noGrp="1"/>
          </p:cNvSpPr>
          <p:nvPr/>
        </p:nvSpPr>
        <p:spPr>
          <a:xfrm xmlns:a="http://schemas.openxmlformats.org/drawingml/2006/main">
            <a:off x="866775" y="3162300"/>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6003"/>
          </a:bodyPr>
          <a:lstStyle xmlns:a="http://schemas.openxmlformats.org/drawingml/2006/main"/>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EJS server-side templates</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Bootstrap 5 responsive UI</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Role-aware navigation</a:t>
            </a:r>
          </a:p>
        </p:txBody>
      </p:sp>
      <p:sp>
        <p:nvSpPr>
          <p:cNvPr id="10" name="">
            <a:extLst xmlns:a="http://schemas.openxmlformats.org/drawingml/2006/main">
              <a:ext uri="{FF2B5EF4-FFF2-40B4-BE49-F238E27FC236}">
                <a16:creationId xmlns:a16="http://schemas.microsoft.com/office/drawing/2014/main" id="{EA461BA5-71D7-43B4-AD27-51DF56C9AE78}"/>
              </a:ext>
            </a:extLst>
          </p:cNvPr>
          <p:cNvSpPr>
            <a:spLocks xmlns:a="http://schemas.openxmlformats.org/drawingml/2006/main" noGrp="1"/>
          </p:cNvSpPr>
          <p:nvPr/>
        </p:nvSpPr>
        <p:spPr>
          <a:xfrm xmlns:a="http://schemas.openxmlformats.org/drawingml/2006/main">
            <a:off x="3714750" y="1562100"/>
            <a:ext cx="4762500" cy="3409950"/>
          </a:xfrm>
          <a:prstGeom xmlns:a="http://schemas.openxmlformats.org/drawingml/2006/main" prst="roundRect">
            <a:avLst>
              <a:gd name="adj" fmla="val 4469"/>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30FF57A-8593-4954-8A9F-71D007C5AF3B}"/>
              </a:ext>
            </a:extLst>
          </p:cNvPr>
          <p:cNvSpPr>
            <a:spLocks xmlns:a="http://schemas.openxmlformats.org/drawingml/2006/main" noGrp="1"/>
          </p:cNvSpPr>
          <p:nvPr/>
        </p:nvSpPr>
        <p:spPr>
          <a:xfrm xmlns:a="http://schemas.openxmlformats.org/drawingml/2006/main">
            <a:off x="3981450" y="1771650"/>
            <a:ext cx="422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APPLICATION LAYER · VERCEL</a:t>
            </a:r>
          </a:p>
        </p:txBody>
      </p:sp>
      <p:sp>
        <p:nvSpPr>
          <p:cNvPr id="12" name="">
            <a:extLst xmlns:a="http://schemas.openxmlformats.org/drawingml/2006/main">
              <a:ext uri="{FF2B5EF4-FFF2-40B4-BE49-F238E27FC236}">
                <a16:creationId xmlns:a16="http://schemas.microsoft.com/office/drawing/2014/main" id="{28214AC0-EC6B-4F2A-95CE-CD5583742AA2}"/>
              </a:ext>
            </a:extLst>
          </p:cNvPr>
          <p:cNvSpPr>
            <a:spLocks xmlns:a="http://schemas.openxmlformats.org/drawingml/2006/main" noGrp="1"/>
          </p:cNvSpPr>
          <p:nvPr/>
        </p:nvSpPr>
        <p:spPr>
          <a:xfrm xmlns:a="http://schemas.openxmlformats.org/drawingml/2006/main">
            <a:off x="3981450" y="215265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Node.js + Express.js</a:t>
            </a:r>
          </a:p>
        </p:txBody>
      </p:sp>
      <p:sp>
        <p:nvSpPr>
          <p:cNvPr id="13" name="">
            <a:extLst xmlns:a="http://schemas.openxmlformats.org/drawingml/2006/main">
              <a:ext uri="{FF2B5EF4-FFF2-40B4-BE49-F238E27FC236}">
                <a16:creationId xmlns:a16="http://schemas.microsoft.com/office/drawing/2014/main" id="{9ABE232F-C1D6-47E5-8153-74A0BDB1CCE0}"/>
              </a:ext>
            </a:extLst>
          </p:cNvPr>
          <p:cNvSpPr>
            <a:spLocks xmlns:a="http://schemas.openxmlformats.org/drawingml/2006/main" noGrp="1"/>
          </p:cNvSpPr>
          <p:nvPr/>
        </p:nvSpPr>
        <p:spPr>
          <a:xfrm xmlns:a="http://schemas.openxmlformats.org/drawingml/2006/main">
            <a:off x="4171950" y="283845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14" name="">
            <a:extLst xmlns:a="http://schemas.openxmlformats.org/drawingml/2006/main">
              <a:ext uri="{FF2B5EF4-FFF2-40B4-BE49-F238E27FC236}">
                <a16:creationId xmlns:a16="http://schemas.microsoft.com/office/drawing/2014/main" id="{4A14E85B-BE6A-43A5-9AEA-043475DF517C}"/>
              </a:ext>
            </a:extLst>
          </p:cNvPr>
          <p:cNvSpPr>
            <a:spLocks xmlns:a="http://schemas.openxmlformats.org/drawingml/2006/main" noGrp="1"/>
          </p:cNvSpPr>
          <p:nvPr/>
        </p:nvSpPr>
        <p:spPr>
          <a:xfrm xmlns:a="http://schemas.openxmlformats.org/drawingml/2006/main">
            <a:off x="4333875" y="28956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2569"/>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Routes + middleware</a:t>
            </a:r>
          </a:p>
        </p:txBody>
      </p:sp>
      <p:sp>
        <p:nvSpPr>
          <p:cNvPr id="15" name="">
            <a:extLst xmlns:a="http://schemas.openxmlformats.org/drawingml/2006/main">
              <a:ext uri="{FF2B5EF4-FFF2-40B4-BE49-F238E27FC236}">
                <a16:creationId xmlns:a16="http://schemas.microsoft.com/office/drawing/2014/main" id="{6D0BAC8E-6BA1-4730-A849-AF89791B57EE}"/>
              </a:ext>
            </a:extLst>
          </p:cNvPr>
          <p:cNvSpPr>
            <a:spLocks xmlns:a="http://schemas.openxmlformats.org/drawingml/2006/main" noGrp="1"/>
          </p:cNvSpPr>
          <p:nvPr/>
        </p:nvSpPr>
        <p:spPr>
          <a:xfrm xmlns:a="http://schemas.openxmlformats.org/drawingml/2006/main">
            <a:off x="5829300" y="289560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Session authentication and role guards</a:t>
            </a:r>
          </a:p>
        </p:txBody>
      </p:sp>
      <p:sp>
        <p:nvSpPr>
          <p:cNvPr id="16" name="">
            <a:extLst xmlns:a="http://schemas.openxmlformats.org/drawingml/2006/main">
              <a:ext uri="{FF2B5EF4-FFF2-40B4-BE49-F238E27FC236}">
                <a16:creationId xmlns:a16="http://schemas.microsoft.com/office/drawing/2014/main" id="{B8FDC3F6-EAD6-4631-9630-FC256C2D42F4}"/>
              </a:ext>
            </a:extLst>
          </p:cNvPr>
          <p:cNvSpPr>
            <a:spLocks xmlns:a="http://schemas.openxmlformats.org/drawingml/2006/main" noGrp="1"/>
          </p:cNvSpPr>
          <p:nvPr/>
        </p:nvSpPr>
        <p:spPr>
          <a:xfrm xmlns:a="http://schemas.openxmlformats.org/drawingml/2006/main">
            <a:off x="4171950" y="342900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17" name="">
            <a:extLst xmlns:a="http://schemas.openxmlformats.org/drawingml/2006/main">
              <a:ext uri="{FF2B5EF4-FFF2-40B4-BE49-F238E27FC236}">
                <a16:creationId xmlns:a16="http://schemas.microsoft.com/office/drawing/2014/main" id="{950E1BB9-C3D8-41FB-9D20-184210DF925D}"/>
              </a:ext>
            </a:extLst>
          </p:cNvPr>
          <p:cNvSpPr>
            <a:spLocks xmlns:a="http://schemas.openxmlformats.org/drawingml/2006/main" noGrp="1"/>
          </p:cNvSpPr>
          <p:nvPr/>
        </p:nvSpPr>
        <p:spPr>
          <a:xfrm xmlns:a="http://schemas.openxmlformats.org/drawingml/2006/main">
            <a:off x="4333875" y="34861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Controllers</a:t>
            </a:r>
          </a:p>
        </p:txBody>
      </p:sp>
      <p:sp>
        <p:nvSpPr>
          <p:cNvPr id="18" name="">
            <a:extLst xmlns:a="http://schemas.openxmlformats.org/drawingml/2006/main">
              <a:ext uri="{FF2B5EF4-FFF2-40B4-BE49-F238E27FC236}">
                <a16:creationId xmlns:a16="http://schemas.microsoft.com/office/drawing/2014/main" id="{8E800FED-CBE8-44BA-AD94-D79E3F43FBE9}"/>
              </a:ext>
            </a:extLst>
          </p:cNvPr>
          <p:cNvSpPr>
            <a:spLocks xmlns:a="http://schemas.openxmlformats.org/drawingml/2006/main" noGrp="1"/>
          </p:cNvSpPr>
          <p:nvPr/>
        </p:nvSpPr>
        <p:spPr>
          <a:xfrm xmlns:a="http://schemas.openxmlformats.org/drawingml/2006/main">
            <a:off x="5829300" y="348615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Drive, application, and status workflows</a:t>
            </a:r>
          </a:p>
        </p:txBody>
      </p:sp>
      <p:sp>
        <p:nvSpPr>
          <p:cNvPr id="19" name="">
            <a:extLst xmlns:a="http://schemas.openxmlformats.org/drawingml/2006/main">
              <a:ext uri="{FF2B5EF4-FFF2-40B4-BE49-F238E27FC236}">
                <a16:creationId xmlns:a16="http://schemas.microsoft.com/office/drawing/2014/main" id="{01B55B18-23E9-4B6C-ADE5-E3E14F771960}"/>
              </a:ext>
            </a:extLst>
          </p:cNvPr>
          <p:cNvSpPr>
            <a:spLocks xmlns:a="http://schemas.openxmlformats.org/drawingml/2006/main" noGrp="1"/>
          </p:cNvSpPr>
          <p:nvPr/>
        </p:nvSpPr>
        <p:spPr>
          <a:xfrm xmlns:a="http://schemas.openxmlformats.org/drawingml/2006/main">
            <a:off x="4171950" y="401955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20" name="">
            <a:extLst xmlns:a="http://schemas.openxmlformats.org/drawingml/2006/main">
              <a:ext uri="{FF2B5EF4-FFF2-40B4-BE49-F238E27FC236}">
                <a16:creationId xmlns:a16="http://schemas.microsoft.com/office/drawing/2014/main" id="{1747EF75-ED43-49D6-A374-115A224EF1EB}"/>
              </a:ext>
            </a:extLst>
          </p:cNvPr>
          <p:cNvSpPr>
            <a:spLocks xmlns:a="http://schemas.openxmlformats.org/drawingml/2006/main" noGrp="1"/>
          </p:cNvSpPr>
          <p:nvPr/>
        </p:nvSpPr>
        <p:spPr>
          <a:xfrm xmlns:a="http://schemas.openxmlformats.org/drawingml/2006/main">
            <a:off x="4333875" y="40767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Models</a:t>
            </a:r>
          </a:p>
        </p:txBody>
      </p:sp>
      <p:sp>
        <p:nvSpPr>
          <p:cNvPr id="21" name="">
            <a:extLst xmlns:a="http://schemas.openxmlformats.org/drawingml/2006/main">
              <a:ext uri="{FF2B5EF4-FFF2-40B4-BE49-F238E27FC236}">
                <a16:creationId xmlns:a16="http://schemas.microsoft.com/office/drawing/2014/main" id="{E87EA1CD-298D-43D2-BA14-34E21E12BED0}"/>
              </a:ext>
            </a:extLst>
          </p:cNvPr>
          <p:cNvSpPr>
            <a:spLocks xmlns:a="http://schemas.openxmlformats.org/drawingml/2006/main" noGrp="1"/>
          </p:cNvSpPr>
          <p:nvPr/>
        </p:nvSpPr>
        <p:spPr>
          <a:xfrm xmlns:a="http://schemas.openxmlformats.org/drawingml/2006/main">
            <a:off x="5829300" y="407670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Mongoose schemas, validation, and unique indexes</a:t>
            </a:r>
          </a:p>
        </p:txBody>
      </p:sp>
      <p:sp>
        <p:nvSpPr>
          <p:cNvPr id="22" name="">
            <a:extLst xmlns:a="http://schemas.openxmlformats.org/drawingml/2006/main">
              <a:ext uri="{FF2B5EF4-FFF2-40B4-BE49-F238E27FC236}">
                <a16:creationId xmlns:a16="http://schemas.microsoft.com/office/drawing/2014/main" id="{BA1B7A0C-08EF-4EE9-8101-DD87718163D7}"/>
              </a:ext>
            </a:extLst>
          </p:cNvPr>
          <p:cNvSpPr>
            <a:spLocks xmlns:a="http://schemas.openxmlformats.org/drawingml/2006/main" noGrp="1"/>
          </p:cNvSpPr>
          <p:nvPr/>
        </p:nvSpPr>
        <p:spPr>
          <a:xfrm xmlns:a="http://schemas.openxmlformats.org/drawingml/2006/main">
            <a:off x="9248775" y="1914525"/>
            <a:ext cx="2333625" cy="2667000"/>
          </a:xfrm>
          <a:prstGeom xmlns:a="http://schemas.openxmlformats.org/drawingml/2006/main" prst="roundRect">
            <a:avLst>
              <a:gd name="adj" fmla="val 6531"/>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A77FC4F5-CFA2-4B00-BCBE-A07F916BB4C3}"/>
              </a:ext>
            </a:extLst>
          </p:cNvPr>
          <p:cNvSpPr>
            <a:spLocks xmlns:a="http://schemas.openxmlformats.org/drawingml/2006/main" noGrp="1"/>
          </p:cNvSpPr>
          <p:nvPr/>
        </p:nvSpPr>
        <p:spPr>
          <a:xfrm xmlns:a="http://schemas.openxmlformats.org/drawingml/2006/main">
            <a:off x="9477375" y="211455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10B981"/>
                </a:solidFill>
                <a:latin typeface="Helvetica Neue"/>
                <a:ea typeface="Helvetica Neue"/>
                <a:cs typeface="Helvetica Neue"/>
              </a:defRPr>
            </a:pPr>
            <a:r>
              <a:rPr sz="1050" b="1">
                <a:solidFill>
                  <a:srgbClr val="10B981"/>
                </a:solidFill>
                <a:latin typeface="Helvetica Neue"/>
                <a:ea typeface="Helvetica Neue"/>
                <a:cs typeface="Helvetica Neue"/>
              </a:rPr>
              <a:t>DATA</a:t>
            </a:r>
          </a:p>
        </p:txBody>
      </p:sp>
      <p:sp>
        <p:nvSpPr>
          <p:cNvPr id="24" name="">
            <a:extLst xmlns:a="http://schemas.openxmlformats.org/drawingml/2006/main">
              <a:ext uri="{FF2B5EF4-FFF2-40B4-BE49-F238E27FC236}">
                <a16:creationId xmlns:a16="http://schemas.microsoft.com/office/drawing/2014/main" id="{F9AF4147-CBA4-40F0-9416-D57818EF877D}"/>
              </a:ext>
            </a:extLst>
          </p:cNvPr>
          <p:cNvSpPr>
            <a:spLocks xmlns:a="http://schemas.openxmlformats.org/drawingml/2006/main" noGrp="1"/>
          </p:cNvSpPr>
          <p:nvPr/>
        </p:nvSpPr>
        <p:spPr>
          <a:xfrm xmlns:a="http://schemas.openxmlformats.org/drawingml/2006/main">
            <a:off x="9477375" y="253365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62"/>
          </a:bodyPr>
          <a:lstStyle xmlns:a="http://schemas.openxmlformats.org/drawingml/2006/main"/>
          <a:p xmlns:a="http://schemas.openxmlformats.org/drawingml/2006/main">
            <a:pPr algn="ctr">
              <a:defRPr sz="2100" b="1">
                <a:solidFill>
                  <a:srgbClr val="0B1F3A"/>
                </a:solidFill>
                <a:latin typeface="Helvetica Neue"/>
                <a:ea typeface="Helvetica Neue"/>
                <a:cs typeface="Helvetica Neue"/>
              </a:defRPr>
            </a:pPr>
            <a:r>
              <a:rPr sz="2100" b="1">
                <a:solidFill>
                  <a:srgbClr val="0B1F3A"/>
                </a:solidFill>
                <a:latin typeface="Helvetica Neue"/>
                <a:ea typeface="Helvetica Neue"/>
                <a:cs typeface="Helvetica Neue"/>
              </a:rPr>
              <a:t>MongoDB Atlas</a:t>
            </a:r>
          </a:p>
        </p:txBody>
      </p:sp>
      <p:sp>
        <p:nvSpPr>
          <p:cNvPr id="25" name="">
            <a:extLst xmlns:a="http://schemas.openxmlformats.org/drawingml/2006/main">
              <a:ext uri="{FF2B5EF4-FFF2-40B4-BE49-F238E27FC236}">
                <a16:creationId xmlns:a16="http://schemas.microsoft.com/office/drawing/2014/main" id="{77D7F4DE-B12E-4143-938C-576D17B1B328}"/>
              </a:ext>
            </a:extLst>
          </p:cNvPr>
          <p:cNvSpPr>
            <a:spLocks xmlns:a="http://schemas.openxmlformats.org/drawingml/2006/main" noGrp="1"/>
          </p:cNvSpPr>
          <p:nvPr/>
        </p:nvSpPr>
        <p:spPr>
          <a:xfrm xmlns:a="http://schemas.openxmlformats.org/drawingml/2006/main">
            <a:off x="9505950" y="3162300"/>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4150"/>
          </a:bodyPr>
          <a:lstStyle xmlns:a="http://schemas.openxmlformats.org/drawingml/2006/main"/>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Cloud document database</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Mongoose ODM</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Compound index prevents duplicates</a:t>
            </a:r>
          </a:p>
        </p:txBody>
      </p:sp>
      <p:cxnSp>
        <p:nvCxnSpPr>
          <p:cNvPr id="57" name=""/>
          <p:cNvCxnSpPr>
            <a:stCxn xmlns:a="http://schemas.openxmlformats.org/drawingml/2006/main" id="6" idx="3"/>
            <a:endCxn xmlns:a="http://schemas.openxmlformats.org/drawingml/2006/main" id="10" idx="1"/>
          </p:cNvCxnSpPr>
          <p:nvPr/>
        </p:nvCxnSpPr>
        <p:spPr>
          <a:xfrm xmlns:a="http://schemas.openxmlformats.org/drawingml/2006/main">
            <a:off x="2943225" y="3248025"/>
            <a:ext cx="771525" cy="19050"/>
          </a:xfrm>
          <a:prstGeom xmlns:a="http://schemas.openxmlformats.org/drawingml/2006/main" prst="straightConnector1">
            <a:avLst/>
          </a:prstGeom>
          <a:ln xmlns:a="http://schemas.openxmlformats.org/drawingml/2006/main" w="28575">
            <a:solidFill>
              <a:srgbClr val="0EA5E9"/>
            </a:solidFill>
            <a:prstDash val="solid"/>
            <a:tailEnd type="triangle" w="sm" len="sm"/>
          </a:ln>
        </p:spPr>
      </p:cxnSp>
      <p:cxnSp>
        <p:nvCxnSpPr>
          <p:cNvPr id="58" name=""/>
          <p:cNvCxnSpPr>
            <a:stCxn xmlns:a="http://schemas.openxmlformats.org/drawingml/2006/main" id="10" idx="3"/>
            <a:endCxn xmlns:a="http://schemas.openxmlformats.org/drawingml/2006/main" id="22" idx="1"/>
          </p:cNvCxnSpPr>
          <p:nvPr/>
        </p:nvCxnSpPr>
        <p:spPr>
          <a:xfrm xmlns:a="http://schemas.openxmlformats.org/drawingml/2006/main" flipV="1">
            <a:off x="8477250" y="3248025"/>
            <a:ext cx="771525" cy="19050"/>
          </a:xfrm>
          <a:prstGeom xmlns:a="http://schemas.openxmlformats.org/drawingml/2006/main" prst="straightConnector1">
            <a:avLst/>
          </a:prstGeom>
          <a:ln xmlns:a="http://schemas.openxmlformats.org/drawingml/2006/main" w="28575">
            <a:solidFill>
              <a:srgbClr val="10B981"/>
            </a:solidFill>
            <a:prstDash val="solid"/>
            <a:tailEnd type="triangle" w="sm" len="sm"/>
          </a:ln>
        </p:spPr>
      </p:cxnSp>
      <p:sp>
        <p:nvSpPr>
          <p:cNvPr id="28" name="">
            <a:extLst xmlns:a="http://schemas.openxmlformats.org/drawingml/2006/main">
              <a:ext uri="{FF2B5EF4-FFF2-40B4-BE49-F238E27FC236}">
                <a16:creationId xmlns:a16="http://schemas.microsoft.com/office/drawing/2014/main" id="{9C3BEDCF-951D-4343-9239-31D62F1DD5EC}"/>
              </a:ext>
            </a:extLst>
          </p:cNvPr>
          <p:cNvSpPr>
            <a:spLocks xmlns:a="http://schemas.openxmlformats.org/drawingml/2006/main" noGrp="1"/>
          </p:cNvSpPr>
          <p:nvPr/>
        </p:nvSpPr>
        <p:spPr>
          <a:xfrm xmlns:a="http://schemas.openxmlformats.org/drawingml/2006/main">
            <a:off x="838200" y="527685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8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MVC separates view rendering, business rules, and persistent data.</a:t>
            </a:r>
          </a:p>
          <a:p xmlns:a="http://schemas.openxmlformats.org/drawingml/2006/main">
            <a:pPr marL="228600" indent="-114300" algn="l">
              <a:spcAft>
                <a:spcPts val="8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bcryptjs and server-side sessions protect authenticated access.</a:t>
            </a:r>
          </a:p>
        </p:txBody>
      </p:sp>
      <p:sp>
        <p:nvSpPr>
          <p:cNvPr id="29" name="">
            <a:extLst xmlns:a="http://schemas.openxmlformats.org/drawingml/2006/main">
              <a:ext uri="{FF2B5EF4-FFF2-40B4-BE49-F238E27FC236}">
                <a16:creationId xmlns:a16="http://schemas.microsoft.com/office/drawing/2014/main" id="{CB25619E-1849-4B13-BC91-824F1E30FB82}"/>
              </a:ext>
            </a:extLst>
          </p:cNvPr>
          <p:cNvSpPr>
            <a:spLocks xmlns:a="http://schemas.openxmlformats.org/drawingml/2006/main" noGrp="1"/>
          </p:cNvSpPr>
          <p:nvPr/>
        </p:nvSpPr>
        <p:spPr>
          <a:xfrm xmlns:a="http://schemas.openxmlformats.org/drawingml/2006/main">
            <a:off x="6305550" y="527685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8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RESTful routes keep role-specific operations modular.</a:t>
            </a:r>
          </a:p>
          <a:p xmlns:a="http://schemas.openxmlformats.org/drawingml/2006/main">
            <a:pPr marL="228600" indent="-114300" algn="l">
              <a:spcAft>
                <a:spcPts val="8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Vercel hosts the app while Atlas provides managed cloud persistence.</a:t>
            </a:r>
          </a:p>
        </p:txBody>
      </p:sp>
      <p:sp>
        <p:nvSpPr>
          <p:cNvPr id="30" name="">
            <a:extLst xmlns:a="http://schemas.openxmlformats.org/drawingml/2006/main">
              <a:ext uri="{FF2B5EF4-FFF2-40B4-BE49-F238E27FC236}">
                <a16:creationId xmlns:a16="http://schemas.microsoft.com/office/drawing/2014/main" id="{EE946508-5623-45A6-8341-CE0723BD51F4}"/>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31" name="">
            <a:extLst xmlns:a="http://schemas.openxmlformats.org/drawingml/2006/main">
              <a:ext uri="{FF2B5EF4-FFF2-40B4-BE49-F238E27FC236}">
                <a16:creationId xmlns:a16="http://schemas.microsoft.com/office/drawing/2014/main" id="{C4F518AA-D58C-4EEA-B62D-2305F69E9315}"/>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1524260282"/>
      </p:ext>
    </p:extLst>
  </p:cSld>
</p:sld>
</file>

<file path=ppt/slides/slide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2E25439-FE85-4650-88C4-814FEBC39067}"/>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D47E1334-4D37-4E09-9E5F-CE0B0958C27F}"/>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References and acknowledgements</a:t>
            </a:r>
          </a:p>
        </p:txBody>
      </p:sp>
      <p:sp>
        <p:nvSpPr>
          <p:cNvPr id="3" name="">
            <a:extLst xmlns:a="http://schemas.openxmlformats.org/drawingml/2006/main">
              <a:ext uri="{FF2B5EF4-FFF2-40B4-BE49-F238E27FC236}">
                <a16:creationId xmlns:a16="http://schemas.microsoft.com/office/drawing/2014/main" id="{14CB3ADC-4B4A-4847-92A4-F60762CC8DB4}"/>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Built from official documentation and real placement-cell operating patterns</a:t>
            </a:r>
          </a:p>
        </p:txBody>
      </p:sp>
      <p:sp>
        <p:nvSpPr>
          <p:cNvPr id="4" name="">
            <a:extLst xmlns:a="http://schemas.openxmlformats.org/drawingml/2006/main">
              <a:ext uri="{FF2B5EF4-FFF2-40B4-BE49-F238E27FC236}">
                <a16:creationId xmlns:a16="http://schemas.microsoft.com/office/drawing/2014/main" id="{025F732E-68A1-4B40-8714-83D5E425A145}"/>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75ca9fc04564371">
            <a:extLst>
              <a:ext uri="{96DAC541-7B7A-43D3-8B79-37D633B846F1}">
                <asvg:svgBlip xmlns:asvg="http://schemas.microsoft.com/office/drawing/2016/SVG/main" r:embed="Rc1b8670fe8cc47d4"/>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B29F18-7571-4E0D-9401-1876E2555007}"/>
              </a:ext>
            </a:extLst>
          </p:cNvPr>
          <p:cNvSpPr>
            <a:spLocks xmlns:a="http://schemas.openxmlformats.org/drawingml/2006/main" noGrp="1"/>
          </p:cNvSpPr>
          <p:nvPr/>
        </p:nvSpPr>
        <p:spPr>
          <a:xfrm xmlns:a="http://schemas.openxmlformats.org/drawingml/2006/main">
            <a:off x="609600" y="16573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Technical references</a:t>
            </a:r>
          </a:p>
        </p:txBody>
      </p:sp>
      <p:sp>
        <p:nvSpPr>
          <p:cNvPr id="7" name="">
            <a:extLst xmlns:a="http://schemas.openxmlformats.org/drawingml/2006/main">
              <a:ext uri="{FF2B5EF4-FFF2-40B4-BE49-F238E27FC236}">
                <a16:creationId xmlns:a16="http://schemas.microsoft.com/office/drawing/2014/main" id="{6BDCB991-6817-446E-8E76-2100404B8B70}"/>
              </a:ext>
            </a:extLst>
          </p:cNvPr>
          <p:cNvSpPr>
            <a:spLocks xmlns:a="http://schemas.openxmlformats.org/drawingml/2006/main" noGrp="1"/>
          </p:cNvSpPr>
          <p:nvPr/>
        </p:nvSpPr>
        <p:spPr>
          <a:xfrm xmlns:a="http://schemas.openxmlformats.org/drawingml/2006/main">
            <a:off x="628650" y="220980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8BAA5FD1-94CC-495B-A0BA-61F49E914C9F}"/>
              </a:ext>
            </a:extLst>
          </p:cNvPr>
          <p:cNvSpPr>
            <a:spLocks xmlns:a="http://schemas.openxmlformats.org/drawingml/2006/main" noGrp="1"/>
          </p:cNvSpPr>
          <p:nvPr/>
        </p:nvSpPr>
        <p:spPr>
          <a:xfrm xmlns:a="http://schemas.openxmlformats.org/drawingml/2006/main">
            <a:off x="1200150" y="22002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Node.js and Express.js</a:t>
            </a:r>
          </a:p>
        </p:txBody>
      </p:sp>
      <p:sp>
        <p:nvSpPr>
          <p:cNvPr id="9" name="">
            <a:extLst xmlns:a="http://schemas.openxmlformats.org/drawingml/2006/main">
              <a:ext uri="{FF2B5EF4-FFF2-40B4-BE49-F238E27FC236}">
                <a16:creationId xmlns:a16="http://schemas.microsoft.com/office/drawing/2014/main" id="{3C1F4A44-76D4-4ED1-8A61-143F058A86D8}"/>
              </a:ext>
            </a:extLst>
          </p:cNvPr>
          <p:cNvSpPr>
            <a:spLocks xmlns:a="http://schemas.openxmlformats.org/drawingml/2006/main" noGrp="1"/>
          </p:cNvSpPr>
          <p:nvPr/>
        </p:nvSpPr>
        <p:spPr>
          <a:xfrm xmlns:a="http://schemas.openxmlformats.org/drawingml/2006/main">
            <a:off x="1200150" y="247650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nodejs.org/docs  ·  expressjs.com</a:t>
            </a:r>
          </a:p>
        </p:txBody>
      </p:sp>
      <p:sp>
        <p:nvSpPr>
          <p:cNvPr id="10" name="">
            <a:extLst xmlns:a="http://schemas.openxmlformats.org/drawingml/2006/main">
              <a:ext uri="{FF2B5EF4-FFF2-40B4-BE49-F238E27FC236}">
                <a16:creationId xmlns:a16="http://schemas.microsoft.com/office/drawing/2014/main" id="{869C62C6-683C-4A05-A7DE-A585599E431E}"/>
              </a:ext>
            </a:extLst>
          </p:cNvPr>
          <p:cNvSpPr>
            <a:spLocks xmlns:a="http://schemas.openxmlformats.org/drawingml/2006/main" noGrp="1"/>
          </p:cNvSpPr>
          <p:nvPr/>
        </p:nvSpPr>
        <p:spPr>
          <a:xfrm xmlns:a="http://schemas.openxmlformats.org/drawingml/2006/main">
            <a:off x="628650" y="299085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7F7BEB09-407C-45C0-BBC0-EC5C3DA7CC6F}"/>
              </a:ext>
            </a:extLst>
          </p:cNvPr>
          <p:cNvSpPr>
            <a:spLocks xmlns:a="http://schemas.openxmlformats.org/drawingml/2006/main" noGrp="1"/>
          </p:cNvSpPr>
          <p:nvPr/>
        </p:nvSpPr>
        <p:spPr>
          <a:xfrm xmlns:a="http://schemas.openxmlformats.org/drawingml/2006/main">
            <a:off x="1200150" y="29813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MongoDB Atlas and Mongoose</a:t>
            </a:r>
          </a:p>
        </p:txBody>
      </p:sp>
      <p:sp>
        <p:nvSpPr>
          <p:cNvPr id="12" name="">
            <a:extLst xmlns:a="http://schemas.openxmlformats.org/drawingml/2006/main">
              <a:ext uri="{FF2B5EF4-FFF2-40B4-BE49-F238E27FC236}">
                <a16:creationId xmlns:a16="http://schemas.microsoft.com/office/drawing/2014/main" id="{5012F523-A936-462C-8BAA-59B81A816EC2}"/>
              </a:ext>
            </a:extLst>
          </p:cNvPr>
          <p:cNvSpPr>
            <a:spLocks xmlns:a="http://schemas.openxmlformats.org/drawingml/2006/main" noGrp="1"/>
          </p:cNvSpPr>
          <p:nvPr/>
        </p:nvSpPr>
        <p:spPr>
          <a:xfrm xmlns:a="http://schemas.openxmlformats.org/drawingml/2006/main">
            <a:off x="1200150" y="32575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mongodb.com/docs/atlas  ·  mongoosejs.com/docs</a:t>
            </a:r>
          </a:p>
        </p:txBody>
      </p:sp>
      <p:sp>
        <p:nvSpPr>
          <p:cNvPr id="13" name="">
            <a:extLst xmlns:a="http://schemas.openxmlformats.org/drawingml/2006/main">
              <a:ext uri="{FF2B5EF4-FFF2-40B4-BE49-F238E27FC236}">
                <a16:creationId xmlns:a16="http://schemas.microsoft.com/office/drawing/2014/main" id="{7EE218E6-4FEF-49DB-B2B2-06350D1D31EF}"/>
              </a:ext>
            </a:extLst>
          </p:cNvPr>
          <p:cNvSpPr>
            <a:spLocks xmlns:a="http://schemas.openxmlformats.org/drawingml/2006/main" noGrp="1"/>
          </p:cNvSpPr>
          <p:nvPr/>
        </p:nvSpPr>
        <p:spPr>
          <a:xfrm xmlns:a="http://schemas.openxmlformats.org/drawingml/2006/main">
            <a:off x="628650" y="377190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F4F82CCC-C9F5-4833-B10B-239F128559B7}"/>
              </a:ext>
            </a:extLst>
          </p:cNvPr>
          <p:cNvSpPr>
            <a:spLocks xmlns:a="http://schemas.openxmlformats.org/drawingml/2006/main" noGrp="1"/>
          </p:cNvSpPr>
          <p:nvPr/>
        </p:nvSpPr>
        <p:spPr>
          <a:xfrm xmlns:a="http://schemas.openxmlformats.org/drawingml/2006/main">
            <a:off x="1200150" y="3762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EJS and Bootstrap 5</a:t>
            </a:r>
          </a:p>
        </p:txBody>
      </p:sp>
      <p:sp>
        <p:nvSpPr>
          <p:cNvPr id="15" name="">
            <a:extLst xmlns:a="http://schemas.openxmlformats.org/drawingml/2006/main">
              <a:ext uri="{FF2B5EF4-FFF2-40B4-BE49-F238E27FC236}">
                <a16:creationId xmlns:a16="http://schemas.microsoft.com/office/drawing/2014/main" id="{DE4ED039-4A3D-4DA5-914A-55071D383FA6}"/>
              </a:ext>
            </a:extLst>
          </p:cNvPr>
          <p:cNvSpPr>
            <a:spLocks xmlns:a="http://schemas.openxmlformats.org/drawingml/2006/main" noGrp="1"/>
          </p:cNvSpPr>
          <p:nvPr/>
        </p:nvSpPr>
        <p:spPr>
          <a:xfrm xmlns:a="http://schemas.openxmlformats.org/drawingml/2006/main">
            <a:off x="1200150" y="403860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ejs.co  ·  getbootstrap.com/docs/5.3</a:t>
            </a:r>
          </a:p>
        </p:txBody>
      </p:sp>
      <p:sp>
        <p:nvSpPr>
          <p:cNvPr id="16" name="">
            <a:extLst xmlns:a="http://schemas.openxmlformats.org/drawingml/2006/main">
              <a:ext uri="{FF2B5EF4-FFF2-40B4-BE49-F238E27FC236}">
                <a16:creationId xmlns:a16="http://schemas.microsoft.com/office/drawing/2014/main" id="{FF85E908-DB60-4EAE-83D4-A24C7B37500A}"/>
              </a:ext>
            </a:extLst>
          </p:cNvPr>
          <p:cNvSpPr>
            <a:spLocks xmlns:a="http://schemas.openxmlformats.org/drawingml/2006/main" noGrp="1"/>
          </p:cNvSpPr>
          <p:nvPr/>
        </p:nvSpPr>
        <p:spPr>
          <a:xfrm xmlns:a="http://schemas.openxmlformats.org/drawingml/2006/main">
            <a:off x="628650" y="4552950"/>
            <a:ext cx="400050" cy="40005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17" name="">
            <a:extLst xmlns:a="http://schemas.openxmlformats.org/drawingml/2006/main">
              <a:ext uri="{FF2B5EF4-FFF2-40B4-BE49-F238E27FC236}">
                <a16:creationId xmlns:a16="http://schemas.microsoft.com/office/drawing/2014/main" id="{4CEDAB12-9143-4085-95D3-F2FD20471740}"/>
              </a:ext>
            </a:extLst>
          </p:cNvPr>
          <p:cNvSpPr>
            <a:spLocks xmlns:a="http://schemas.openxmlformats.org/drawingml/2006/main" noGrp="1"/>
          </p:cNvSpPr>
          <p:nvPr/>
        </p:nvSpPr>
        <p:spPr>
          <a:xfrm xmlns:a="http://schemas.openxmlformats.org/drawingml/2006/main">
            <a:off x="1200150" y="45434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Vercel deployment</a:t>
            </a:r>
          </a:p>
        </p:txBody>
      </p:sp>
      <p:sp>
        <p:nvSpPr>
          <p:cNvPr id="18" name="">
            <a:extLst xmlns:a="http://schemas.openxmlformats.org/drawingml/2006/main">
              <a:ext uri="{FF2B5EF4-FFF2-40B4-BE49-F238E27FC236}">
                <a16:creationId xmlns:a16="http://schemas.microsoft.com/office/drawing/2014/main" id="{8506C776-AA2A-41F9-8895-98590580684B}"/>
              </a:ext>
            </a:extLst>
          </p:cNvPr>
          <p:cNvSpPr>
            <a:spLocks xmlns:a="http://schemas.openxmlformats.org/drawingml/2006/main" noGrp="1"/>
          </p:cNvSpPr>
          <p:nvPr/>
        </p:nvSpPr>
        <p:spPr>
          <a:xfrm xmlns:a="http://schemas.openxmlformats.org/drawingml/2006/main">
            <a:off x="1200150" y="48196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vercel.com/docs</a:t>
            </a:r>
          </a:p>
        </p:txBody>
      </p:sp>
      <p:sp>
        <p:nvSpPr>
          <p:cNvPr id="19" name="">
            <a:extLst xmlns:a="http://schemas.openxmlformats.org/drawingml/2006/main">
              <a:ext uri="{FF2B5EF4-FFF2-40B4-BE49-F238E27FC236}">
                <a16:creationId xmlns:a16="http://schemas.microsoft.com/office/drawing/2014/main" id="{68C0256F-BE87-4CB0-B920-E08985A60B77}"/>
              </a:ext>
            </a:extLst>
          </p:cNvPr>
          <p:cNvSpPr>
            <a:spLocks xmlns:a="http://schemas.openxmlformats.org/drawingml/2006/main" noGrp="1"/>
          </p:cNvSpPr>
          <p:nvPr/>
        </p:nvSpPr>
        <p:spPr>
          <a:xfrm xmlns:a="http://schemas.openxmlformats.org/drawingml/2006/main">
            <a:off x="5943600" y="1657350"/>
            <a:ext cx="0" cy="394335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sp>
        <p:nvSpPr>
          <p:cNvPr id="20" name="">
            <a:extLst xmlns:a="http://schemas.openxmlformats.org/drawingml/2006/main">
              <a:ext uri="{FF2B5EF4-FFF2-40B4-BE49-F238E27FC236}">
                <a16:creationId xmlns:a16="http://schemas.microsoft.com/office/drawing/2014/main" id="{C005C053-087A-41DC-B7C5-85F2E31FF218}"/>
              </a:ext>
            </a:extLst>
          </p:cNvPr>
          <p:cNvSpPr>
            <a:spLocks xmlns:a="http://schemas.openxmlformats.org/drawingml/2006/main" noGrp="1"/>
          </p:cNvSpPr>
          <p:nvPr/>
        </p:nvSpPr>
        <p:spPr>
          <a:xfrm xmlns:a="http://schemas.openxmlformats.org/drawingml/2006/main">
            <a:off x="6400800" y="16573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Functional inspiration</a:t>
            </a:r>
          </a:p>
        </p:txBody>
      </p:sp>
      <p:sp>
        <p:nvSpPr>
          <p:cNvPr id="21" name="">
            <a:extLst xmlns:a="http://schemas.openxmlformats.org/drawingml/2006/main">
              <a:ext uri="{FF2B5EF4-FFF2-40B4-BE49-F238E27FC236}">
                <a16:creationId xmlns:a16="http://schemas.microsoft.com/office/drawing/2014/main" id="{E3F5D55A-85C2-4FB6-BAE5-575EF5159933}"/>
              </a:ext>
            </a:extLst>
          </p:cNvPr>
          <p:cNvSpPr>
            <a:spLocks xmlns:a="http://schemas.openxmlformats.org/drawingml/2006/main" noGrp="1"/>
          </p:cNvSpPr>
          <p:nvPr/>
        </p:nvSpPr>
        <p:spPr>
          <a:xfrm xmlns:a="http://schemas.openxmlformats.org/drawingml/2006/main">
            <a:off x="6419850" y="2247900"/>
            <a:ext cx="4724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University training and placement cell policies for eligibility and offer rules.</a:t>
            </a:r>
          </a:p>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Recruitment platforms such as Superset and Handshake for workflow inspiration.</a:t>
            </a:r>
          </a:p>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Project requirements and operational scenarios documented in the repository.</a:t>
            </a:r>
          </a:p>
        </p:txBody>
      </p:sp>
      <p:sp>
        <p:nvSpPr>
          <p:cNvPr id="22" name="">
            <a:extLst xmlns:a="http://schemas.openxmlformats.org/drawingml/2006/main">
              <a:ext uri="{FF2B5EF4-FFF2-40B4-BE49-F238E27FC236}">
                <a16:creationId xmlns:a16="http://schemas.microsoft.com/office/drawing/2014/main" id="{FF0E2189-91A3-4565-8F9C-057B48901BB0}"/>
              </a:ext>
            </a:extLst>
          </p:cNvPr>
          <p:cNvSpPr>
            <a:spLocks xmlns:a="http://schemas.openxmlformats.org/drawingml/2006/main" noGrp="1"/>
          </p:cNvSpPr>
          <p:nvPr/>
        </p:nvSpPr>
        <p:spPr>
          <a:xfrm xmlns:a="http://schemas.openxmlformats.org/drawingml/2006/main">
            <a:off x="6400800" y="4238625"/>
            <a:ext cx="4743450" cy="1362075"/>
          </a:xfrm>
          <a:prstGeom xmlns:a="http://schemas.openxmlformats.org/drawingml/2006/main" prst="roundRect">
            <a:avLst>
              <a:gd name="adj" fmla="val 11189"/>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EC2DAFEF-7A6F-4478-B49C-3A7EBD1A588F}"/>
              </a:ext>
            </a:extLst>
          </p:cNvPr>
          <p:cNvSpPr>
            <a:spLocks xmlns:a="http://schemas.openxmlformats.org/drawingml/2006/main" noGrp="1"/>
          </p:cNvSpPr>
          <p:nvPr/>
        </p:nvSpPr>
        <p:spPr>
          <a:xfrm xmlns:a="http://schemas.openxmlformats.org/drawingml/2006/main">
            <a:off x="6667500" y="4448175"/>
            <a:ext cx="421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ACKNOWLEDGEMENT</a:t>
            </a:r>
          </a:p>
        </p:txBody>
      </p:sp>
      <p:sp>
        <p:nvSpPr>
          <p:cNvPr id="24" name="">
            <a:extLst xmlns:a="http://schemas.openxmlformats.org/drawingml/2006/main">
              <a:ext uri="{FF2B5EF4-FFF2-40B4-BE49-F238E27FC236}">
                <a16:creationId xmlns:a16="http://schemas.microsoft.com/office/drawing/2014/main" id="{4FD29F85-A4CB-4C1B-8B51-2816CE23854A}"/>
              </a:ext>
            </a:extLst>
          </p:cNvPr>
          <p:cNvSpPr>
            <a:spLocks xmlns:a="http://schemas.openxmlformats.org/drawingml/2006/main" noGrp="1"/>
          </p:cNvSpPr>
          <p:nvPr/>
        </p:nvSpPr>
        <p:spPr>
          <a:xfrm xmlns:a="http://schemas.openxmlformats.org/drawingml/2006/main">
            <a:off x="6667500" y="47625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Thank you</a:t>
            </a:r>
          </a:p>
        </p:txBody>
      </p:sp>
      <p:sp>
        <p:nvSpPr>
          <p:cNvPr id="25" name="">
            <a:extLst xmlns:a="http://schemas.openxmlformats.org/drawingml/2006/main">
              <a:ext uri="{FF2B5EF4-FFF2-40B4-BE49-F238E27FC236}">
                <a16:creationId xmlns:a16="http://schemas.microsoft.com/office/drawing/2014/main" id="{033FCF41-5B52-4DF1-9C09-0921141C9244}"/>
              </a:ext>
            </a:extLst>
          </p:cNvPr>
          <p:cNvSpPr>
            <a:spLocks xmlns:a="http://schemas.openxmlformats.org/drawingml/2006/main" noGrp="1"/>
          </p:cNvSpPr>
          <p:nvPr/>
        </p:nvSpPr>
        <p:spPr>
          <a:xfrm xmlns:a="http://schemas.openxmlformats.org/drawingml/2006/main">
            <a:off x="6724650" y="52197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47"/>
          </a:bodyPr>
          <a:lstStyle xmlns:a="http://schemas.openxmlformats.org/drawingml/2006/main"/>
          <a:p xmlns:a="http://schemas.openxmlformats.org/drawingml/2006/main">
            <a:pPr algn="ctr">
              <a:defRPr sz="1200" b="0">
                <a:solidFill>
                  <a:srgbClr val="D5E8F4"/>
                </a:solidFill>
                <a:latin typeface="Helvetica Neue"/>
                <a:ea typeface="Helvetica Neue"/>
                <a:cs typeface="Helvetica Neue"/>
              </a:defRPr>
            </a:pPr>
            <a:r>
              <a:rPr sz="1200" b="0">
                <a:solidFill>
                  <a:srgbClr val="D5E8F4"/>
                </a:solidFill>
                <a:latin typeface="Helvetica Neue"/>
                <a:ea typeface="Helvetica Neue"/>
                <a:cs typeface="Helvetica Neue"/>
              </a:rPr>
              <a:t>[Project Guide] · Faculty Members · Placement Coordinators</a:t>
            </a:r>
          </a:p>
        </p:txBody>
      </p:sp>
      <p:sp>
        <p:nvSpPr>
          <p:cNvPr id="26" name="">
            <a:extLst xmlns:a="http://schemas.openxmlformats.org/drawingml/2006/main">
              <a:ext uri="{FF2B5EF4-FFF2-40B4-BE49-F238E27FC236}">
                <a16:creationId xmlns:a16="http://schemas.microsoft.com/office/drawing/2014/main" id="{E0C84B18-4054-48D4-9DB9-A34BC233A0E3}"/>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27" name="">
            <a:extLst xmlns:a="http://schemas.openxmlformats.org/drawingml/2006/main">
              <a:ext uri="{FF2B5EF4-FFF2-40B4-BE49-F238E27FC236}">
                <a16:creationId xmlns:a16="http://schemas.microsoft.com/office/drawing/2014/main" id="{37B57823-973C-4E82-AF9A-3F2865687AE8}"/>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867368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2026-09-20T20:41:55.1140000Z</dcterms:created>
  <dcterms:modified xsi:type="dcterms:W3CDTF">2026-09-20T20:41:55.1140000Z</dcterms:modified>
</coreProperties>
</file>